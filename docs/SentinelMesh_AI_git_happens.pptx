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67e6dc-7fc1-5391-c265-fc1cab3bb12e}">
          <p14:sldIdLst>
            <p14:sldId id="256"/>
          </p14:sldIdLst>
        </p14:section>
        <p14:section name="Problem &amp; Solution" id="{595455f1-2757-829f-0112-28bb4f22b58d}">
          <p14:sldIdLst>
            <p14:sldId id="257"/>
            <p14:sldId id="258"/>
          </p14:sldIdLst>
        </p14:section>
        <p14:section name="Architecture" id="{83449e6f-230d-21ec-6beb-67c02f42b526}">
          <p14:sldIdLst>
            <p14:sldId id="259"/>
            <p14:sldId id="260"/>
          </p14:sldIdLst>
        </p14:section>
        <p14:section name="Operations &amp; Validation" id="{4fd04b7f-f250-a48f-29a4-ae25496224fd}">
          <p14:sldIdLst>
            <p14:sldId id="261"/>
            <p14:sldId id="262"/>
            <p14:sldId id="263"/>
            <p14:sldId id="264"/>
            <p14:sldId id="265"/>
          </p14:sldIdLst>
        </p14:section>
        <p14:section name="Roadmap" id="{9f9446fa-79ef-543b-e0c2-6e186f39eaa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D1D1F"/>
                </a:solidFill>
                <a:latin typeface="+mn-lt"/>
              </a:defRPr>
            </a:pPr>
            <a:r>
              <a:rPr sz="1800" b="0" i="0" u="none" strike="noStrike">
                <a:solidFill>
                  <a:srgbClr val="1D1D1F"/>
                </a:solidFill>
                <a:latin typeface="+mn-lt"/>
              </a:rPr>
              <a:t>Security gap metrics (%)</a:t>
            </a:r>
          </a:p>
        </c:rich>
      </c:tx>
      <c:layout/>
      <c:overlay val="0"/>
    </c:title>
    <c:autoTitleDeleted val="0"/>
    <c:plotArea>
      <c:layout/>
      <c:barChart>
        <c:barDir val="col"/>
        <c:grouping val="clustered"/>
        <c:varyColors val="0"/>
        <c:ser>
          <c:idx val="0"/>
          <c:order val="0"/>
          <c:tx>
            <c:strRef>
              <c:f>Sheet1!$B$1</c:f>
              <c:strCache>
                <c:ptCount val="1"/>
                <c:pt idx="0">
                  <c:v>Shared infrastructure</c:v>
                </c:pt>
              </c:strCache>
            </c:strRef>
          </c:tx>
          <c:spPr>
            <a:solidFill>
              <a:srgbClr val="9AA0C7"/>
            </a:solidFill>
            <a:effectLst/>
          </c:spPr>
          <c:invertIfNegative val="0"/>
          <c:dLbls>
            <c:numFmt formatCode="0&quot;%&quot;" sourceLinked="0"/>
            <c:txPr>
              <a:bodyPr/>
              <a:lstStyle/>
              <a:p>
                <a:pPr>
                  <a:defRPr b="0" i="0" strike="noStrike" sz="1500" u="none">
                    <a:solidFill>
                      <a:srgbClr val="1D1D1F"/>
                    </a:solidFill>
                    <a:latin typeface="+mn-lt"/>
                  </a:defRPr>
                </a:pPr>
              </a:p>
            </c:txPr>
            <c:showLegendKey val="0"/>
            <c:showVal val="1"/>
            <c:showCatName val="0"/>
            <c:showSerName val="0"/>
            <c:showPercent val="0"/>
            <c:showBubbleSize val="0"/>
            <c:showLeaderLines val="0"/>
          </c:dLbls>
          <c:cat>
            <c:multiLvlStrRef>
              <c:f>Sheet1!$A$2:$A$4</c:f>
              <c:multiLvlStrCache>
                <c:ptCount val="3"/>
                <c:lvl>
                  <c:pt idx="0">
                    <c:v>Attack Containment</c:v>
                  </c:pt>
                  <c:pt idx="1">
                    <c:v>Audit Traceability</c:v>
                  </c:pt>
                  <c:pt idx="2">
                    <c:v>Data Exposure Risk</c:v>
                  </c:pt>
                </c:lvl>
              </c:multiLvlStrCache>
            </c:multiLvlStrRef>
          </c:cat>
          <c:val>
            <c:numRef>
              <c:f>Sheet1!$B$2:$B$4</c:f>
              <c:numCache>
                <c:formatCode>General</c:formatCode>
                <c:ptCount val="3"/>
                <c:pt idx="0">
                  <c:v>12</c:v>
                </c:pt>
                <c:pt idx="1">
                  <c:v>31</c:v>
                </c:pt>
                <c:pt idx="2">
                  <c:v>68</c:v>
                </c:pt>
              </c:numCache>
            </c:numRef>
          </c:val>
        </c:ser>
        <c:ser>
          <c:idx val="1"/>
          <c:order val="1"/>
          <c:tx>
            <c:strRef>
              <c:f>Sheet1!$C$1</c:f>
              <c:strCache>
                <c:ptCount val="1"/>
                <c:pt idx="0">
                  <c:v>SentinelMesh AI</c:v>
                </c:pt>
              </c:strCache>
            </c:strRef>
          </c:tx>
          <c:spPr>
            <a:solidFill>
              <a:srgbClr val="1A0DAB"/>
            </a:solidFill>
            <a:effectLst/>
          </c:spPr>
          <c:invertIfNegative val="0"/>
          <c:dLbls>
            <c:numFmt formatCode="0&quot;%&quot;" sourceLinked="0"/>
            <c:txPr>
              <a:bodyPr/>
              <a:lstStyle/>
              <a:p>
                <a:pPr>
                  <a:defRPr b="0" i="0" strike="noStrike" sz="1500" u="none">
                    <a:solidFill>
                      <a:srgbClr val="1D1D1F"/>
                    </a:solidFill>
                    <a:latin typeface="+mn-lt"/>
                  </a:defRPr>
                </a:pPr>
              </a:p>
            </c:txPr>
            <c:showLegendKey val="0"/>
            <c:showVal val="1"/>
            <c:showCatName val="0"/>
            <c:showSerName val="0"/>
            <c:showPercent val="0"/>
            <c:showBubbleSize val="0"/>
            <c:showLeaderLines val="0"/>
          </c:dLbls>
          <c:cat>
            <c:multiLvlStrRef>
              <c:f>Sheet1!$A$2:$A$4</c:f>
              <c:multiLvlStrCache>
                <c:ptCount val="3"/>
                <c:lvl>
                  <c:pt idx="0">
                    <c:v>Attack Containment</c:v>
                  </c:pt>
                  <c:pt idx="1">
                    <c:v>Audit Traceability</c:v>
                  </c:pt>
                  <c:pt idx="2">
                    <c:v>Data Exposure Risk</c:v>
                  </c:pt>
                </c:lvl>
              </c:multiLvlStrCache>
            </c:multiLvlStrRef>
          </c:cat>
          <c:val>
            <c:numRef>
              <c:f>Sheet1!$C$2:$C$4</c:f>
              <c:numCache>
                <c:formatCode>General</c:formatCode>
                <c:ptCount val="3"/>
                <c:pt idx="0">
                  <c:v>97</c:v>
                </c:pt>
                <c:pt idx="1">
                  <c:v>100</c:v>
                </c:pt>
                <c:pt idx="2">
                  <c:v>0</c:v>
                </c:pt>
              </c:numCache>
            </c:numRef>
          </c:val>
        </c:ser>
        <c:dLbls>
          <c:numFmt formatCode="0&quot;%&quot;" sourceLinked="0"/>
          <c:txPr>
            <a:bodyPr/>
            <a:lstStyle/>
            <a:p>
              <a:pPr>
                <a:defRPr b="0" i="0" strike="noStrike" sz="1500" u="none">
                  <a:solidFill>
                    <a:srgbClr val="1D1D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D1D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B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73"/>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500">
              <a:solidFill>
                <a:srgbClr val="1D1D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assets/cover_banner.png">    </p:cNvPr>
          <p:cNvPicPr>
            <a:picLocks noChangeAspect="1"/>
          </p:cNvPicPr>
          <p:nvPr/>
        </p:nvPicPr>
        <p:blipFill>
          <a:blip r:embed="rId1"/>
          <a:stretch>
            <a:fillRect/>
          </a:stretch>
        </p:blipFill>
        <p:spPr>
          <a:xfrm>
            <a:off x="0" y="0"/>
            <a:ext cx="18288000" cy="408736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assets/strip.png">    </p:cNvPr>
          <p:cNvPicPr>
            <a:picLocks noChangeAspect="1"/>
          </p:cNvPicPr>
          <p:nvPr/>
        </p:nvPicPr>
        <p:blipFill>
          <a:blip r:embed="rId1"/>
          <a:stretch>
            <a:fillRect/>
          </a:stretch>
        </p:blipFill>
        <p:spPr>
          <a:xfrm>
            <a:off x="0" y="0"/>
            <a:ext cx="18288000" cy="1205517"/>
          </a:xfrm>
          <a:prstGeom prst="rect">
            <a:avLst/>
          </a:prstGeom>
        </p:spPr>
      </p:pic>
      <p:sp>
        <p:nvSpPr>
          <p:cNvPr id="3" name="Text 0"/>
          <p:cNvSpPr/>
          <p:nvPr/>
        </p:nvSpPr>
        <p:spPr>
          <a:xfrm>
            <a:off x="731520" y="9646920"/>
            <a:ext cx="8229600" cy="365760"/>
          </a:xfrm>
          <a:prstGeom prst="rect">
            <a:avLst/>
          </a:prstGeom>
          <a:noFill/>
          <a:ln/>
        </p:spPr>
        <p:txBody>
          <a:bodyPr wrap="square" lIns="0" tIns="0" rIns="0" bIns="0" rtlCol="0" anchor="ctr"/>
          <a:lstStyle/>
          <a:p>
            <a:pPr indent="0" marL="0">
              <a:buNone/>
            </a:pPr>
            <a:r>
              <a:rPr lang="en-US" sz="1400" dirty="0">
                <a:solidFill>
                  <a:schemeClr val="accent4"/>
                </a:solidFill>
              </a:rPr>
              <a:t>git_happens  |  SentinelMesh AI</a:t>
            </a:r>
            <a:endParaRPr lang="en-US" sz="14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ject title"/>
          <p:cNvSpPr txBox="1"/>
          <p:nvPr/>
        </p:nvSpPr>
        <p:spPr>
          <a:xfrm>
            <a:off x="731520" y="4434840"/>
            <a:ext cx="16824960" cy="1097280"/>
          </a:xfrm>
          <a:prstGeom prst="rect">
            <a:avLst/>
          </a:prstGeom>
          <a:noFill/>
          <a:ln/>
        </p:spPr>
        <p:txBody>
          <a:bodyPr wrap="square" lIns="0" tIns="0" rIns="0" bIns="0" rtlCol="0" anchor="ctr"/>
          <a:lstStyle/>
          <a:p>
            <a:pPr indent="0" marL="0">
              <a:buNone/>
            </a:pPr>
            <a:r>
              <a:rPr lang="en-US" sz="6000" b="1" dirty="0">
                <a:solidFill>
                  <a:schemeClr val="tx1"/>
                </a:solidFill>
                <a:latin typeface="+mj-lt" pitchFamily="34" charset="0"/>
                <a:ea typeface="+mj-lt" pitchFamily="34" charset="-122"/>
                <a:cs typeface="+mj-lt" pitchFamily="34" charset="-120"/>
              </a:rPr>
              <a:t>SENTINELMESH AI</a:t>
            </a:r>
            <a:endParaRPr lang="en-US" sz="6000" dirty="0"/>
          </a:p>
        </p:txBody>
      </p:sp>
      <p:sp>
        <p:nvSpPr>
          <p:cNvPr id="3" name="Subtitle"/>
          <p:cNvSpPr txBox="1"/>
          <p:nvPr/>
        </p:nvSpPr>
        <p:spPr>
          <a:xfrm>
            <a:off x="731520" y="5532120"/>
            <a:ext cx="16824960" cy="548640"/>
          </a:xfrm>
          <a:prstGeom prst="rect">
            <a:avLst/>
          </a:prstGeom>
          <a:noFill/>
          <a:ln/>
        </p:spPr>
        <p:txBody>
          <a:bodyPr wrap="square" lIns="0" tIns="0" rIns="0" bIns="0" rtlCol="0" anchor="t"/>
          <a:lstStyle/>
          <a:p>
            <a:pPr indent="0" marL="0">
              <a:buNone/>
            </a:pPr>
            <a:r>
              <a:rPr lang="en-US" sz="2600" b="1" dirty="0">
                <a:solidFill>
                  <a:schemeClr val="accent1"/>
                </a:solidFill>
              </a:rPr>
              <a:t>Zero-Trust Infrastructure for Adversarial AI Testing</a:t>
            </a:r>
            <a:endParaRPr lang="en-US" sz="2600" dirty="0"/>
          </a:p>
        </p:txBody>
      </p:sp>
      <p:sp>
        <p:nvSpPr>
          <p:cNvPr id="4" name="Context"/>
          <p:cNvSpPr txBox="1"/>
          <p:nvPr/>
        </p:nvSpPr>
        <p:spPr>
          <a:xfrm>
            <a:off x="731520" y="6126480"/>
            <a:ext cx="16824960" cy="457200"/>
          </a:xfrm>
          <a:prstGeom prst="rect">
            <a:avLst/>
          </a:prstGeom>
          <a:noFill/>
          <a:ln/>
        </p:spPr>
        <p:txBody>
          <a:bodyPr wrap="square" lIns="0" tIns="0" rIns="0" bIns="0" rtlCol="0" anchor="t"/>
          <a:lstStyle/>
          <a:p>
            <a:pPr indent="0" marL="0">
              <a:buNone/>
            </a:pPr>
            <a:r>
              <a:rPr lang="en-US" sz="1800" dirty="0">
                <a:solidFill>
                  <a:schemeClr val="accent4"/>
                </a:solidFill>
              </a:rPr>
              <a:t>Problem Statement 04 · Bayora — Securing Adversarial AI Safety Testing Infrastructure  |  Hack in Hills '26</a:t>
            </a:r>
            <a:endParaRPr lang="en-US" sz="1800" dirty="0"/>
          </a:p>
        </p:txBody>
      </p:sp>
      <p:sp>
        <p:nvSpPr>
          <p:cNvPr id="5" name="Team card 1"/>
          <p:cNvSpPr/>
          <p:nvPr/>
        </p:nvSpPr>
        <p:spPr>
          <a:xfrm>
            <a:off x="731520" y="7040880"/>
            <a:ext cx="5394960" cy="2286000"/>
          </a:xfrm>
          <a:prstGeom prst="roundRect">
            <a:avLst>
              <a:gd name="adj" fmla="val 6000"/>
            </a:avLst>
          </a:prstGeom>
          <a:solidFill>
            <a:schemeClr val="bg2"/>
          </a:solidFill>
          <a:ln w="12700">
            <a:solidFill>
              <a:schemeClr val="accent1"/>
            </a:solidFill>
            <a:prstDash val="solid"/>
          </a:ln>
        </p:spPr>
      </p:sp>
      <p:sp>
        <p:nvSpPr>
          <p:cNvPr id="6" name="Text 4"/>
          <p:cNvSpPr txBox="1"/>
          <p:nvPr/>
        </p:nvSpPr>
        <p:spPr>
          <a:xfrm>
            <a:off x="1051560" y="7269480"/>
            <a:ext cx="4754880" cy="365760"/>
          </a:xfrm>
          <a:prstGeom prst="rect">
            <a:avLst/>
          </a:prstGeom>
          <a:noFill/>
          <a:ln/>
        </p:spPr>
        <p:txBody>
          <a:bodyPr wrap="square" lIns="0" tIns="0" rIns="0" bIns="0" rtlCol="0" anchor="t"/>
          <a:lstStyle/>
          <a:p>
            <a:pPr indent="0" marL="0">
              <a:buNone/>
            </a:pPr>
            <a:r>
              <a:rPr lang="en-US" sz="1600" b="1" dirty="0">
                <a:solidFill>
                  <a:schemeClr val="accent2"/>
                </a:solidFill>
              </a:rPr>
              <a:t>TEAM NAME</a:t>
            </a:r>
            <a:endParaRPr lang="en-US" sz="1600" dirty="0"/>
          </a:p>
        </p:txBody>
      </p:sp>
      <p:sp>
        <p:nvSpPr>
          <p:cNvPr id="7" name="Text 5"/>
          <p:cNvSpPr txBox="1"/>
          <p:nvPr/>
        </p:nvSpPr>
        <p:spPr>
          <a:xfrm>
            <a:off x="1051560" y="7680960"/>
            <a:ext cx="4754880" cy="822960"/>
          </a:xfrm>
          <a:prstGeom prst="rect">
            <a:avLst/>
          </a:prstGeom>
          <a:noFill/>
          <a:ln/>
        </p:spPr>
        <p:txBody>
          <a:bodyPr wrap="square" lIns="0" tIns="0" rIns="0" bIns="0" rtlCol="0" anchor="t"/>
          <a:lstStyle/>
          <a:p>
            <a:pPr indent="0" marL="0">
              <a:buNone/>
            </a:pPr>
            <a:r>
              <a:rPr lang="en-US" sz="2600" b="1" dirty="0">
                <a:solidFill>
                  <a:schemeClr val="tx1"/>
                </a:solidFill>
              </a:rPr>
              <a:t>git_happens</a:t>
            </a:r>
            <a:endParaRPr lang="en-US" sz="2600" dirty="0"/>
          </a:p>
        </p:txBody>
      </p:sp>
      <p:sp>
        <p:nvSpPr>
          <p:cNvPr id="8" name="Text 6"/>
          <p:cNvSpPr txBox="1"/>
          <p:nvPr/>
        </p:nvSpPr>
        <p:spPr>
          <a:xfrm>
            <a:off x="1051560" y="8549640"/>
            <a:ext cx="4754880" cy="685800"/>
          </a:xfrm>
          <a:prstGeom prst="rect">
            <a:avLst/>
          </a:prstGeom>
          <a:noFill/>
          <a:ln/>
        </p:spPr>
        <p:txBody>
          <a:bodyPr wrap="square" lIns="0" tIns="0" rIns="0" bIns="0" rtlCol="0" anchor="t"/>
          <a:lstStyle/>
          <a:p>
            <a:pPr indent="0" marL="0">
              <a:buNone/>
            </a:pPr>
            <a:r>
              <a:rPr lang="en-US" sz="1500" dirty="0">
                <a:solidFill>
                  <a:schemeClr val="accent4"/>
                </a:solidFill>
              </a:rPr>
              <a:t>Hack in Hills '26 · PS-04</a:t>
            </a:r>
            <a:endParaRPr lang="en-US" sz="1500" dirty="0"/>
          </a:p>
        </p:txBody>
      </p:sp>
      <p:sp>
        <p:nvSpPr>
          <p:cNvPr id="9" name="Team card 2"/>
          <p:cNvSpPr/>
          <p:nvPr/>
        </p:nvSpPr>
        <p:spPr>
          <a:xfrm>
            <a:off x="6446520" y="7040880"/>
            <a:ext cx="5394960" cy="2286000"/>
          </a:xfrm>
          <a:prstGeom prst="roundRect">
            <a:avLst>
              <a:gd name="adj" fmla="val 6000"/>
            </a:avLst>
          </a:prstGeom>
          <a:solidFill>
            <a:schemeClr val="bg2"/>
          </a:solidFill>
          <a:ln w="12700">
            <a:solidFill>
              <a:schemeClr val="accent1"/>
            </a:solidFill>
            <a:prstDash val="solid"/>
          </a:ln>
        </p:spPr>
      </p:sp>
      <p:sp>
        <p:nvSpPr>
          <p:cNvPr id="10" name="Text 8"/>
          <p:cNvSpPr txBox="1"/>
          <p:nvPr/>
        </p:nvSpPr>
        <p:spPr>
          <a:xfrm>
            <a:off x="6766560" y="7269480"/>
            <a:ext cx="4754880" cy="365760"/>
          </a:xfrm>
          <a:prstGeom prst="rect">
            <a:avLst/>
          </a:prstGeom>
          <a:noFill/>
          <a:ln/>
        </p:spPr>
        <p:txBody>
          <a:bodyPr wrap="square" lIns="0" tIns="0" rIns="0" bIns="0" rtlCol="0" anchor="t"/>
          <a:lstStyle/>
          <a:p>
            <a:pPr indent="0" marL="0">
              <a:buNone/>
            </a:pPr>
            <a:r>
              <a:rPr lang="en-US" sz="1600" b="1" dirty="0">
                <a:solidFill>
                  <a:schemeClr val="accent2"/>
                </a:solidFill>
              </a:rPr>
              <a:t>TEAM MEMBER</a:t>
            </a:r>
            <a:endParaRPr lang="en-US" sz="1600" dirty="0"/>
          </a:p>
        </p:txBody>
      </p:sp>
      <p:sp>
        <p:nvSpPr>
          <p:cNvPr id="11" name="Text 9"/>
          <p:cNvSpPr txBox="1"/>
          <p:nvPr/>
        </p:nvSpPr>
        <p:spPr>
          <a:xfrm>
            <a:off x="6766560" y="7680960"/>
            <a:ext cx="4754880" cy="822960"/>
          </a:xfrm>
          <a:prstGeom prst="rect">
            <a:avLst/>
          </a:prstGeom>
          <a:noFill/>
          <a:ln/>
        </p:spPr>
        <p:txBody>
          <a:bodyPr wrap="square" lIns="0" tIns="0" rIns="0" bIns="0" rtlCol="0" anchor="t"/>
          <a:lstStyle/>
          <a:p>
            <a:pPr indent="0" marL="0">
              <a:buNone/>
            </a:pPr>
            <a:r>
              <a:rPr lang="en-US" sz="2600" b="1" dirty="0">
                <a:solidFill>
                  <a:schemeClr val="tx1"/>
                </a:solidFill>
              </a:rPr>
              <a:t>Aishwarya Singh</a:t>
            </a:r>
            <a:endParaRPr lang="en-US" sz="2600" dirty="0"/>
          </a:p>
        </p:txBody>
      </p:sp>
      <p:sp>
        <p:nvSpPr>
          <p:cNvPr id="12" name="Text 10"/>
          <p:cNvSpPr txBox="1"/>
          <p:nvPr/>
        </p:nvSpPr>
        <p:spPr>
          <a:xfrm>
            <a:off x="6766560" y="8549640"/>
            <a:ext cx="4754880" cy="685800"/>
          </a:xfrm>
          <a:prstGeom prst="rect">
            <a:avLst/>
          </a:prstGeom>
          <a:noFill/>
          <a:ln/>
        </p:spPr>
        <p:txBody>
          <a:bodyPr wrap="square" lIns="0" tIns="0" rIns="0" bIns="0" rtlCol="0" anchor="t"/>
          <a:lstStyle/>
          <a:p>
            <a:pPr indent="0" marL="0">
              <a:buNone/>
            </a:pPr>
            <a:r>
              <a:rPr lang="en-US" sz="1500" dirty="0">
                <a:solidFill>
                  <a:schemeClr val="accent4"/>
                </a:solidFill>
              </a:rPr>
              <a:t>Sole member, full project ownership</a:t>
            </a:r>
            <a:endParaRPr lang="en-US" sz="1500" dirty="0"/>
          </a:p>
        </p:txBody>
      </p:sp>
      <p:sp>
        <p:nvSpPr>
          <p:cNvPr id="13" name="Team card 3"/>
          <p:cNvSpPr/>
          <p:nvPr/>
        </p:nvSpPr>
        <p:spPr>
          <a:xfrm>
            <a:off x="12161520" y="7040880"/>
            <a:ext cx="5394960" cy="2286000"/>
          </a:xfrm>
          <a:prstGeom prst="roundRect">
            <a:avLst>
              <a:gd name="adj" fmla="val 6000"/>
            </a:avLst>
          </a:prstGeom>
          <a:solidFill>
            <a:schemeClr val="bg2"/>
          </a:solidFill>
          <a:ln w="12700">
            <a:solidFill>
              <a:schemeClr val="accent1"/>
            </a:solidFill>
            <a:prstDash val="solid"/>
          </a:ln>
        </p:spPr>
      </p:sp>
      <p:sp>
        <p:nvSpPr>
          <p:cNvPr id="14" name="Text 12"/>
          <p:cNvSpPr txBox="1"/>
          <p:nvPr/>
        </p:nvSpPr>
        <p:spPr>
          <a:xfrm>
            <a:off x="12481560" y="7269480"/>
            <a:ext cx="4754880" cy="365760"/>
          </a:xfrm>
          <a:prstGeom prst="rect">
            <a:avLst/>
          </a:prstGeom>
          <a:noFill/>
          <a:ln/>
        </p:spPr>
        <p:txBody>
          <a:bodyPr wrap="square" lIns="0" tIns="0" rIns="0" bIns="0" rtlCol="0" anchor="t"/>
          <a:lstStyle/>
          <a:p>
            <a:pPr indent="0" marL="0">
              <a:buNone/>
            </a:pPr>
            <a:r>
              <a:rPr lang="en-US" sz="1600" b="1" dirty="0">
                <a:solidFill>
                  <a:schemeClr val="accent2"/>
                </a:solidFill>
              </a:rPr>
              <a:t>ROLE</a:t>
            </a:r>
            <a:endParaRPr lang="en-US" sz="1600" dirty="0"/>
          </a:p>
        </p:txBody>
      </p:sp>
      <p:sp>
        <p:nvSpPr>
          <p:cNvPr id="15" name="Text 13"/>
          <p:cNvSpPr txBox="1"/>
          <p:nvPr/>
        </p:nvSpPr>
        <p:spPr>
          <a:xfrm>
            <a:off x="12481560" y="7680960"/>
            <a:ext cx="4754880" cy="822960"/>
          </a:xfrm>
          <a:prstGeom prst="rect">
            <a:avLst/>
          </a:prstGeom>
          <a:noFill/>
          <a:ln/>
        </p:spPr>
        <p:txBody>
          <a:bodyPr wrap="square" lIns="0" tIns="0" rIns="0" bIns="0" rtlCol="0" anchor="t"/>
          <a:lstStyle/>
          <a:p>
            <a:pPr indent="0" marL="0">
              <a:buNone/>
            </a:pPr>
            <a:r>
              <a:rPr lang="en-US" sz="2600" b="1" dirty="0">
                <a:solidFill>
                  <a:schemeClr val="tx1"/>
                </a:solidFill>
              </a:rPr>
              <a:t>Project Lead &amp; Full-Stack Architect</a:t>
            </a:r>
            <a:endParaRPr lang="en-US" sz="2600" dirty="0"/>
          </a:p>
        </p:txBody>
      </p:sp>
      <p:sp>
        <p:nvSpPr>
          <p:cNvPr id="16" name="Text 14"/>
          <p:cNvSpPr txBox="1"/>
          <p:nvPr/>
        </p:nvSpPr>
        <p:spPr>
          <a:xfrm>
            <a:off x="12481560" y="8549640"/>
            <a:ext cx="4754880" cy="685800"/>
          </a:xfrm>
          <a:prstGeom prst="rect">
            <a:avLst/>
          </a:prstGeom>
          <a:noFill/>
          <a:ln/>
        </p:spPr>
        <p:txBody>
          <a:bodyPr wrap="square" lIns="0" tIns="0" rIns="0" bIns="0" rtlCol="0" anchor="t"/>
          <a:lstStyle/>
          <a:p>
            <a:pPr indent="0" marL="0">
              <a:buNone/>
            </a:pPr>
            <a:r>
              <a:rPr lang="en-US" sz="1500" dirty="0">
                <a:solidFill>
                  <a:schemeClr val="accent4"/>
                </a:solidFill>
              </a:rPr>
              <a:t>Architecture · Development · Security · Deployment · Documentation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PROBLEM STATEMENT &amp; THEME</a:t>
            </a:r>
            <a:endParaRPr lang="en-US" sz="4000" dirty="0"/>
          </a:p>
        </p:txBody>
      </p:sp>
      <p:sp>
        <p:nvSpPr>
          <p:cNvPr id="3" name="Card PROBLEM"/>
          <p:cNvSpPr/>
          <p:nvPr/>
        </p:nvSpPr>
        <p:spPr>
          <a:xfrm>
            <a:off x="731520" y="2697480"/>
            <a:ext cx="5394960" cy="6583680"/>
          </a:xfrm>
          <a:prstGeom prst="roundRect">
            <a:avLst>
              <a:gd name="adj" fmla="val 2542"/>
            </a:avLst>
          </a:prstGeom>
          <a:solidFill>
            <a:schemeClr val="bg2"/>
          </a:solidFill>
          <a:ln w="12700">
            <a:solidFill>
              <a:schemeClr val="accent1"/>
            </a:solidFill>
            <a:prstDash val="solid"/>
          </a:ln>
        </p:spPr>
      </p:sp>
      <p:sp>
        <p:nvSpPr>
          <p:cNvPr id="4" name="Badge"/>
          <p:cNvSpPr txBox="1"/>
          <p:nvPr/>
        </p:nvSpPr>
        <p:spPr>
          <a:xfrm>
            <a:off x="1051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874520" y="3017520"/>
            <a:ext cx="4023360" cy="640080"/>
          </a:xfrm>
          <a:prstGeom prst="rect">
            <a:avLst/>
          </a:prstGeom>
          <a:noFill/>
          <a:ln/>
        </p:spPr>
        <p:txBody>
          <a:bodyPr wrap="square" lIns="0" tIns="0" rIns="0" bIns="0" rtlCol="0" anchor="ctr"/>
          <a:lstStyle/>
          <a:p>
            <a:pPr indent="0" marL="0">
              <a:buNone/>
            </a:pPr>
            <a:r>
              <a:rPr lang="en-US" sz="2400" b="1" dirty="0">
                <a:solidFill>
                  <a:schemeClr val="tx1"/>
                </a:solidFill>
              </a:rPr>
              <a:t>PROBLEM</a:t>
            </a:r>
            <a:endParaRPr lang="en-US" sz="2400" dirty="0"/>
          </a:p>
        </p:txBody>
      </p:sp>
      <p:sp>
        <p:nvSpPr>
          <p:cNvPr id="6" name="Text 4"/>
          <p:cNvSpPr txBox="1"/>
          <p:nvPr/>
        </p:nvSpPr>
        <p:spPr>
          <a:xfrm>
            <a:off x="1051560" y="3931920"/>
            <a:ext cx="4754880" cy="512064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Adversarial AI testing requires Red Teams to launch live attacks against AI models while Blue Teams build defenses — simultaneously, in the same environment. Without strict isolation, attack payloads can leak into defense pipelines, exposing strategies before they are deployed and compromising the integrity of every test cycle.</a:t>
            </a:r>
            <a:endParaRPr lang="en-US" sz="2100" dirty="0"/>
          </a:p>
        </p:txBody>
      </p:sp>
      <p:sp>
        <p:nvSpPr>
          <p:cNvPr id="7" name="Card IMPACT"/>
          <p:cNvSpPr/>
          <p:nvPr/>
        </p:nvSpPr>
        <p:spPr>
          <a:xfrm>
            <a:off x="6446520" y="2697480"/>
            <a:ext cx="5394960" cy="6583680"/>
          </a:xfrm>
          <a:prstGeom prst="roundRect">
            <a:avLst>
              <a:gd name="adj" fmla="val 2542"/>
            </a:avLst>
          </a:prstGeom>
          <a:solidFill>
            <a:schemeClr val="bg2"/>
          </a:solidFill>
          <a:ln w="12700">
            <a:solidFill>
              <a:schemeClr val="accent1"/>
            </a:solidFill>
            <a:prstDash val="solid"/>
          </a:ln>
        </p:spPr>
      </p:sp>
      <p:sp>
        <p:nvSpPr>
          <p:cNvPr id="8" name="Badge"/>
          <p:cNvSpPr txBox="1"/>
          <p:nvPr/>
        </p:nvSpPr>
        <p:spPr>
          <a:xfrm>
            <a:off x="6766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7589520" y="3017520"/>
            <a:ext cx="4023360" cy="640080"/>
          </a:xfrm>
          <a:prstGeom prst="rect">
            <a:avLst/>
          </a:prstGeom>
          <a:noFill/>
          <a:ln/>
        </p:spPr>
        <p:txBody>
          <a:bodyPr wrap="square" lIns="0" tIns="0" rIns="0" bIns="0" rtlCol="0" anchor="ctr"/>
          <a:lstStyle/>
          <a:p>
            <a:pPr indent="0" marL="0">
              <a:buNone/>
            </a:pPr>
            <a:r>
              <a:rPr lang="en-US" sz="2400" b="1" dirty="0">
                <a:solidFill>
                  <a:schemeClr val="tx1"/>
                </a:solidFill>
              </a:rPr>
              <a:t>IMPACT</a:t>
            </a:r>
            <a:endParaRPr lang="en-US" sz="2400" dirty="0"/>
          </a:p>
        </p:txBody>
      </p:sp>
      <p:sp>
        <p:nvSpPr>
          <p:cNvPr id="10" name="Text 8"/>
          <p:cNvSpPr txBox="1"/>
          <p:nvPr/>
        </p:nvSpPr>
        <p:spPr>
          <a:xfrm>
            <a:off x="6766560" y="3931920"/>
            <a:ext cx="4754880" cy="512064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Shared infrastructure means model state — weights, gradients, and evaluation checkpoints — is perpetually at risk. A single cross-boundary access event can corrupt benchmark results, invalidate safety certifications, or expose proprietary model internals. The result: untrusted test outcomes, regulatory non-compliance, and critical blind spots in AI safety validation pipelines.</a:t>
            </a:r>
            <a:endParaRPr lang="en-US" sz="2100" dirty="0"/>
          </a:p>
        </p:txBody>
      </p:sp>
      <p:sp>
        <p:nvSpPr>
          <p:cNvPr id="11" name="Card THEME ALIGNMENT"/>
          <p:cNvSpPr/>
          <p:nvPr/>
        </p:nvSpPr>
        <p:spPr>
          <a:xfrm>
            <a:off x="12161520" y="2697480"/>
            <a:ext cx="5394960" cy="6583680"/>
          </a:xfrm>
          <a:prstGeom prst="roundRect">
            <a:avLst>
              <a:gd name="adj" fmla="val 2542"/>
            </a:avLst>
          </a:prstGeom>
          <a:solidFill>
            <a:schemeClr val="bg2"/>
          </a:solidFill>
          <a:ln w="12700">
            <a:solidFill>
              <a:schemeClr val="accent1"/>
            </a:solidFill>
            <a:prstDash val="solid"/>
          </a:ln>
        </p:spPr>
      </p:sp>
      <p:sp>
        <p:nvSpPr>
          <p:cNvPr id="12" name="Badge"/>
          <p:cNvSpPr txBox="1"/>
          <p:nvPr/>
        </p:nvSpPr>
        <p:spPr>
          <a:xfrm>
            <a:off x="12481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3304520" y="3017520"/>
            <a:ext cx="4023360" cy="640080"/>
          </a:xfrm>
          <a:prstGeom prst="rect">
            <a:avLst/>
          </a:prstGeom>
          <a:noFill/>
          <a:ln/>
        </p:spPr>
        <p:txBody>
          <a:bodyPr wrap="square" lIns="0" tIns="0" rIns="0" bIns="0" rtlCol="0" anchor="ctr"/>
          <a:lstStyle/>
          <a:p>
            <a:pPr indent="0" marL="0">
              <a:buNone/>
            </a:pPr>
            <a:r>
              <a:rPr lang="en-US" sz="2400" b="1" dirty="0">
                <a:solidFill>
                  <a:schemeClr val="tx1"/>
                </a:solidFill>
              </a:rPr>
              <a:t>THEME ALIGNMENT</a:t>
            </a:r>
            <a:endParaRPr lang="en-US" sz="2400" dirty="0"/>
          </a:p>
        </p:txBody>
      </p:sp>
      <p:sp>
        <p:nvSpPr>
          <p:cNvPr id="14" name="Text 12"/>
          <p:cNvSpPr txBox="1"/>
          <p:nvPr/>
        </p:nvSpPr>
        <p:spPr>
          <a:xfrm>
            <a:off x="12481560" y="3931920"/>
            <a:ext cx="4754880" cy="512064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Problem Statement 04 · Bayora: Securing Adversarial AI Safety Testing Infrastructure. Existing platforms offer no unified audit trail for cross-boundary activity — security events go unlogged, anomalous access patterns go undetected, and post-incident forensics are incomplete. SentinelMesh AI closes this gap with zero-trust isolation.</a:t>
            </a:r>
            <a:endParaRPr lang="en-US" sz="21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OUR SOLUTION</a:t>
            </a:r>
            <a:endParaRPr lang="en-US" sz="4000" dirty="0"/>
          </a:p>
        </p:txBody>
      </p:sp>
      <p:sp>
        <p:nvSpPr>
          <p:cNvPr id="3" name="Solution row 1"/>
          <p:cNvSpPr/>
          <p:nvPr/>
        </p:nvSpPr>
        <p:spPr>
          <a:xfrm>
            <a:off x="731520" y="2697480"/>
            <a:ext cx="16824960" cy="2011680"/>
          </a:xfrm>
          <a:prstGeom prst="roundRect">
            <a:avLst>
              <a:gd name="adj" fmla="val 6818"/>
            </a:avLst>
          </a:prstGeom>
          <a:solidFill>
            <a:schemeClr val="bg2"/>
          </a:solidFill>
          <a:ln w="12700">
            <a:solidFill>
              <a:schemeClr val="accent1"/>
            </a:solidFill>
            <a:prstDash val="solid"/>
          </a:ln>
        </p:spPr>
      </p:sp>
      <p:sp>
        <p:nvSpPr>
          <p:cNvPr id="4" name="Badge"/>
          <p:cNvSpPr txBox="1"/>
          <p:nvPr/>
        </p:nvSpPr>
        <p:spPr>
          <a:xfrm>
            <a:off x="1097280" y="33832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2057400" y="2926080"/>
            <a:ext cx="4480560" cy="1554480"/>
          </a:xfrm>
          <a:prstGeom prst="rect">
            <a:avLst/>
          </a:prstGeom>
          <a:noFill/>
          <a:ln/>
        </p:spPr>
        <p:txBody>
          <a:bodyPr wrap="square" lIns="0" tIns="0" rIns="0" bIns="0" rtlCol="0" anchor="ctr"/>
          <a:lstStyle/>
          <a:p>
            <a:pPr indent="0" marL="0">
              <a:buNone/>
            </a:pPr>
            <a:r>
              <a:rPr lang="en-US" sz="2200" b="1" dirty="0">
                <a:solidFill>
                  <a:schemeClr val="tx1"/>
                </a:solidFill>
              </a:rPr>
              <a:t>ZERO-TRUST SANDBOX ARCHITECTURE</a:t>
            </a:r>
            <a:endParaRPr lang="en-US" sz="2200" dirty="0"/>
          </a:p>
        </p:txBody>
      </p:sp>
      <p:sp>
        <p:nvSpPr>
          <p:cNvPr id="6" name="Text 4"/>
          <p:cNvSpPr txBox="1"/>
          <p:nvPr/>
        </p:nvSpPr>
        <p:spPr>
          <a:xfrm>
            <a:off x="6858000" y="2926080"/>
            <a:ext cx="10241280" cy="1554480"/>
          </a:xfrm>
          <a:prstGeom prst="rect">
            <a:avLst/>
          </a:prstGeom>
          <a:noFill/>
          <a:ln/>
        </p:spPr>
        <p:txBody>
          <a:bodyPr wrap="square" lIns="0" tIns="0" rIns="0" bIns="0" rtlCol="0" anchor="ctr"/>
          <a:lstStyle/>
          <a:p>
            <a:pPr indent="0" marL="0">
              <a:lnSpc>
                <a:spcPct val="110000"/>
              </a:lnSpc>
              <a:buNone/>
            </a:pPr>
            <a:r>
              <a:rPr lang="en-US" sz="2000" dirty="0">
                <a:solidFill>
                  <a:schemeClr val="tx1"/>
                </a:solidFill>
              </a:rPr>
              <a:t>SentinelMesh AI deploys a fully isolated zero-trust sandbox where Red Team attack payloads and Blue Team defense strategies operate in air-gapped zones. No cross-boundary communication is permitted without explicit Policy Gateway authorization, ensuring complete operational isolation at every layer.</a:t>
            </a:r>
            <a:endParaRPr lang="en-US" sz="2000" dirty="0"/>
          </a:p>
        </p:txBody>
      </p:sp>
      <p:sp>
        <p:nvSpPr>
          <p:cNvPr id="7" name="Solution row 2"/>
          <p:cNvSpPr/>
          <p:nvPr/>
        </p:nvSpPr>
        <p:spPr>
          <a:xfrm>
            <a:off x="731520" y="4937760"/>
            <a:ext cx="16824960" cy="2011680"/>
          </a:xfrm>
          <a:prstGeom prst="roundRect">
            <a:avLst>
              <a:gd name="adj" fmla="val 6818"/>
            </a:avLst>
          </a:prstGeom>
          <a:solidFill>
            <a:schemeClr val="bg2"/>
          </a:solidFill>
          <a:ln w="12700">
            <a:solidFill>
              <a:schemeClr val="accent1"/>
            </a:solidFill>
            <a:prstDash val="solid"/>
          </a:ln>
        </p:spPr>
      </p:sp>
      <p:sp>
        <p:nvSpPr>
          <p:cNvPr id="8" name="Badge"/>
          <p:cNvSpPr txBox="1"/>
          <p:nvPr/>
        </p:nvSpPr>
        <p:spPr>
          <a:xfrm>
            <a:off x="1097280" y="562356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2057400" y="5166360"/>
            <a:ext cx="4480560" cy="1554480"/>
          </a:xfrm>
          <a:prstGeom prst="rect">
            <a:avLst/>
          </a:prstGeom>
          <a:noFill/>
          <a:ln/>
        </p:spPr>
        <p:txBody>
          <a:bodyPr wrap="square" lIns="0" tIns="0" rIns="0" bIns="0" rtlCol="0" anchor="ctr"/>
          <a:lstStyle/>
          <a:p>
            <a:pPr indent="0" marL="0">
              <a:buNone/>
            </a:pPr>
            <a:r>
              <a:rPr lang="en-US" sz="2200" b="1" dirty="0">
                <a:solidFill>
                  <a:schemeClr val="tx1"/>
                </a:solidFill>
              </a:rPr>
              <a:t>ISOLATED ZONE SEGMENTATION</a:t>
            </a:r>
            <a:endParaRPr lang="en-US" sz="2200" dirty="0"/>
          </a:p>
        </p:txBody>
      </p:sp>
      <p:sp>
        <p:nvSpPr>
          <p:cNvPr id="10" name="Text 8"/>
          <p:cNvSpPr txBox="1"/>
          <p:nvPr/>
        </p:nvSpPr>
        <p:spPr>
          <a:xfrm>
            <a:off x="6858000" y="5166360"/>
            <a:ext cx="10241280" cy="1554480"/>
          </a:xfrm>
          <a:prstGeom prst="rect">
            <a:avLst/>
          </a:prstGeom>
          <a:noFill/>
          <a:ln/>
        </p:spPr>
        <p:txBody>
          <a:bodyPr wrap="square" lIns="0" tIns="0" rIns="0" bIns="0" rtlCol="0" anchor="ctr"/>
          <a:lstStyle/>
          <a:p>
            <a:pPr indent="0" marL="0">
              <a:lnSpc>
                <a:spcPct val="110000"/>
              </a:lnSpc>
              <a:buNone/>
            </a:pPr>
            <a:r>
              <a:rPr lang="en-US" sz="2000" dirty="0">
                <a:solidFill>
                  <a:schemeClr val="tx1"/>
                </a:solidFill>
              </a:rPr>
              <a:t>Four hardened zones — Red Team, Blue Team, AI Model State, and Evaluation Data — are cryptographically segmented. Attack payloads never reach sensitive model internals directly. Defense strategies are validated in a controlled staging environment before deployment, eliminating lateral movement risk.</a:t>
            </a:r>
            <a:endParaRPr lang="en-US" sz="2000" dirty="0"/>
          </a:p>
        </p:txBody>
      </p:sp>
      <p:sp>
        <p:nvSpPr>
          <p:cNvPr id="11" name="Solution row 3"/>
          <p:cNvSpPr/>
          <p:nvPr/>
        </p:nvSpPr>
        <p:spPr>
          <a:xfrm>
            <a:off x="731520" y="7178040"/>
            <a:ext cx="16824960" cy="2011680"/>
          </a:xfrm>
          <a:prstGeom prst="roundRect">
            <a:avLst>
              <a:gd name="adj" fmla="val 6818"/>
            </a:avLst>
          </a:prstGeom>
          <a:solidFill>
            <a:schemeClr val="bg2"/>
          </a:solidFill>
          <a:ln w="12700">
            <a:solidFill>
              <a:schemeClr val="accent1"/>
            </a:solidFill>
            <a:prstDash val="solid"/>
          </a:ln>
        </p:spPr>
      </p:sp>
      <p:sp>
        <p:nvSpPr>
          <p:cNvPr id="12" name="Badge"/>
          <p:cNvSpPr txBox="1"/>
          <p:nvPr/>
        </p:nvSpPr>
        <p:spPr>
          <a:xfrm>
            <a:off x="1097280" y="786384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2057400" y="7406640"/>
            <a:ext cx="4480560" cy="1554480"/>
          </a:xfrm>
          <a:prstGeom prst="rect">
            <a:avLst/>
          </a:prstGeom>
          <a:noFill/>
          <a:ln/>
        </p:spPr>
        <p:txBody>
          <a:bodyPr wrap="square" lIns="0" tIns="0" rIns="0" bIns="0" rtlCol="0" anchor="ctr"/>
          <a:lstStyle/>
          <a:p>
            <a:pPr indent="0" marL="0">
              <a:buNone/>
            </a:pPr>
            <a:r>
              <a:rPr lang="en-US" sz="2200" b="1" dirty="0">
                <a:solidFill>
                  <a:schemeClr val="tx1"/>
                </a:solidFill>
              </a:rPr>
              <a:t>POLICY GATEWAY &amp; AUDIT LAYER</a:t>
            </a:r>
            <a:endParaRPr lang="en-US" sz="2200" dirty="0"/>
          </a:p>
        </p:txBody>
      </p:sp>
      <p:sp>
        <p:nvSpPr>
          <p:cNvPr id="14" name="Text 12"/>
          <p:cNvSpPr txBox="1"/>
          <p:nvPr/>
        </p:nvSpPr>
        <p:spPr>
          <a:xfrm>
            <a:off x="6858000" y="7406640"/>
            <a:ext cx="10241280" cy="1554480"/>
          </a:xfrm>
          <a:prstGeom prst="rect">
            <a:avLst/>
          </a:prstGeom>
          <a:noFill/>
          <a:ln/>
        </p:spPr>
        <p:txBody>
          <a:bodyPr wrap="square" lIns="0" tIns="0" rIns="0" bIns="0" rtlCol="0" anchor="ctr"/>
          <a:lstStyle/>
          <a:p>
            <a:pPr indent="0" marL="0">
              <a:lnSpc>
                <a:spcPct val="110000"/>
              </a:lnSpc>
              <a:buNone/>
            </a:pPr>
            <a:r>
              <a:rPr lang="en-US" sz="2000" dirty="0">
                <a:solidFill>
                  <a:schemeClr val="tx1"/>
                </a:solidFill>
              </a:rPr>
              <a:t>A central Policy Gateway enforces least-privilege access across all zone boundaries, acting as the sole authorized communication path. A real-time Audit and Monitoring layer records every security event, flags anomalous cross-boundary activity, and generates immutable compliance logs for post-session forensic analysis.</a:t>
            </a:r>
            <a:endParaRPr lang="en-US" sz="20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CORE ARCHITECTURE COMPONENTS</a:t>
            </a:r>
            <a:endParaRPr lang="en-US" sz="4000" dirty="0"/>
          </a:p>
        </p:txBody>
      </p:sp>
      <p:sp>
        <p:nvSpPr>
          <p:cNvPr id="3" name="Card RED TEAM ATTACK ZONE"/>
          <p:cNvSpPr/>
          <p:nvPr/>
        </p:nvSpPr>
        <p:spPr>
          <a:xfrm>
            <a:off x="731520" y="2697480"/>
            <a:ext cx="3977640" cy="6583680"/>
          </a:xfrm>
          <a:prstGeom prst="roundRect">
            <a:avLst>
              <a:gd name="adj" fmla="val 3448"/>
            </a:avLst>
          </a:prstGeom>
          <a:solidFill>
            <a:schemeClr val="bg2"/>
          </a:solidFill>
          <a:ln w="12700">
            <a:solidFill>
              <a:schemeClr val="accent1"/>
            </a:solidFill>
            <a:prstDash val="solid"/>
          </a:ln>
        </p:spPr>
      </p:sp>
      <p:sp>
        <p:nvSpPr>
          <p:cNvPr id="4" name="Badge"/>
          <p:cNvSpPr txBox="1"/>
          <p:nvPr/>
        </p:nvSpPr>
        <p:spPr>
          <a:xfrm>
            <a:off x="1051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051560" y="3840480"/>
            <a:ext cx="3383280" cy="1325880"/>
          </a:xfrm>
          <a:prstGeom prst="rect">
            <a:avLst/>
          </a:prstGeom>
          <a:noFill/>
          <a:ln/>
        </p:spPr>
        <p:txBody>
          <a:bodyPr wrap="square" lIns="0" tIns="0" rIns="0" bIns="0" rtlCol="0" anchor="t"/>
          <a:lstStyle/>
          <a:p>
            <a:pPr indent="0" marL="0">
              <a:buNone/>
            </a:pPr>
            <a:r>
              <a:rPr lang="en-US" sz="2100" b="1" dirty="0">
                <a:solidFill>
                  <a:schemeClr val="tx1"/>
                </a:solidFill>
              </a:rPr>
              <a:t>RED TEAM ATTACK ZONE</a:t>
            </a:r>
            <a:endParaRPr lang="en-US" sz="2100" dirty="0"/>
          </a:p>
        </p:txBody>
      </p:sp>
      <p:sp>
        <p:nvSpPr>
          <p:cNvPr id="6" name="Text 4"/>
          <p:cNvSpPr txBox="1"/>
          <p:nvPr/>
        </p:nvSpPr>
        <p:spPr>
          <a:xfrm>
            <a:off x="1051560" y="5257800"/>
            <a:ext cx="3383280" cy="3840480"/>
          </a:xfrm>
          <a:prstGeom prst="rect">
            <a:avLst/>
          </a:prstGeom>
          <a:noFill/>
          <a:ln/>
        </p:spPr>
        <p:txBody>
          <a:bodyPr wrap="square" lIns="0" tIns="0" rIns="0" bIns="0" rtlCol="0" anchor="t"/>
          <a:lstStyle/>
          <a:p>
            <a:pPr indent="0" marL="0">
              <a:lnSpc>
                <a:spcPct val="120000"/>
              </a:lnSpc>
              <a:buNone/>
            </a:pPr>
            <a:r>
              <a:rPr lang="en-US" sz="2000" dirty="0">
                <a:solidFill>
                  <a:schemeClr val="tx1"/>
                </a:solidFill>
              </a:rPr>
              <a:t>Isolated adversarial payload execution environment. Attack vectors, exploit payloads and adversarial prompts are sandboxed — zero lateral movement to model state or defense layers.</a:t>
            </a:r>
            <a:endParaRPr lang="en-US" sz="2000" dirty="0"/>
          </a:p>
        </p:txBody>
      </p:sp>
      <p:sp>
        <p:nvSpPr>
          <p:cNvPr id="7" name="Card BLUE TEAM DEFENSE ZONE"/>
          <p:cNvSpPr/>
          <p:nvPr/>
        </p:nvSpPr>
        <p:spPr>
          <a:xfrm>
            <a:off x="5013655" y="2697480"/>
            <a:ext cx="3977640" cy="6583680"/>
          </a:xfrm>
          <a:prstGeom prst="roundRect">
            <a:avLst>
              <a:gd name="adj" fmla="val 3448"/>
            </a:avLst>
          </a:prstGeom>
          <a:solidFill>
            <a:schemeClr val="bg2"/>
          </a:solidFill>
          <a:ln w="12700">
            <a:solidFill>
              <a:schemeClr val="accent1"/>
            </a:solidFill>
            <a:prstDash val="solid"/>
          </a:ln>
        </p:spPr>
      </p:sp>
      <p:sp>
        <p:nvSpPr>
          <p:cNvPr id="8" name="Badge"/>
          <p:cNvSpPr txBox="1"/>
          <p:nvPr/>
        </p:nvSpPr>
        <p:spPr>
          <a:xfrm>
            <a:off x="5333695"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5333695" y="3840480"/>
            <a:ext cx="3383280" cy="1325880"/>
          </a:xfrm>
          <a:prstGeom prst="rect">
            <a:avLst/>
          </a:prstGeom>
          <a:noFill/>
          <a:ln/>
        </p:spPr>
        <p:txBody>
          <a:bodyPr wrap="square" lIns="0" tIns="0" rIns="0" bIns="0" rtlCol="0" anchor="t"/>
          <a:lstStyle/>
          <a:p>
            <a:pPr indent="0" marL="0">
              <a:buNone/>
            </a:pPr>
            <a:r>
              <a:rPr lang="en-US" sz="2100" b="1" dirty="0">
                <a:solidFill>
                  <a:schemeClr val="tx1"/>
                </a:solidFill>
              </a:rPr>
              <a:t>BLUE TEAM DEFENSE ZONE</a:t>
            </a:r>
            <a:endParaRPr lang="en-US" sz="2100" dirty="0"/>
          </a:p>
        </p:txBody>
      </p:sp>
      <p:sp>
        <p:nvSpPr>
          <p:cNvPr id="10" name="Text 8"/>
          <p:cNvSpPr txBox="1"/>
          <p:nvPr/>
        </p:nvSpPr>
        <p:spPr>
          <a:xfrm>
            <a:off x="5333695" y="5257800"/>
            <a:ext cx="3383280" cy="3840480"/>
          </a:xfrm>
          <a:prstGeom prst="rect">
            <a:avLst/>
          </a:prstGeom>
          <a:noFill/>
          <a:ln/>
        </p:spPr>
        <p:txBody>
          <a:bodyPr wrap="square" lIns="0" tIns="0" rIns="0" bIns="0" rtlCol="0" anchor="t"/>
          <a:lstStyle/>
          <a:p>
            <a:pPr indent="0" marL="0">
              <a:lnSpc>
                <a:spcPct val="120000"/>
              </a:lnSpc>
              <a:buNone/>
            </a:pPr>
            <a:r>
              <a:rPr lang="en-US" sz="2000" dirty="0">
                <a:solidFill>
                  <a:schemeClr val="tx1"/>
                </a:solidFill>
              </a:rPr>
              <a:t>Dedicated hardened enclave for defense strategy development. Mitigation logic, patch deployment and countermeasure testing remain fully isolated from attack infrastructure.</a:t>
            </a:r>
            <a:endParaRPr lang="en-US" sz="2000" dirty="0"/>
          </a:p>
        </p:txBody>
      </p:sp>
      <p:sp>
        <p:nvSpPr>
          <p:cNvPr id="11" name="Card PROTECTED MODEL &amp; STATE ISOLATION"/>
          <p:cNvSpPr/>
          <p:nvPr/>
        </p:nvSpPr>
        <p:spPr>
          <a:xfrm>
            <a:off x="9295790" y="2697480"/>
            <a:ext cx="3977640" cy="6583680"/>
          </a:xfrm>
          <a:prstGeom prst="roundRect">
            <a:avLst>
              <a:gd name="adj" fmla="val 3448"/>
            </a:avLst>
          </a:prstGeom>
          <a:solidFill>
            <a:schemeClr val="bg2"/>
          </a:solidFill>
          <a:ln w="12700">
            <a:solidFill>
              <a:schemeClr val="accent1"/>
            </a:solidFill>
            <a:prstDash val="solid"/>
          </a:ln>
        </p:spPr>
      </p:sp>
      <p:sp>
        <p:nvSpPr>
          <p:cNvPr id="12" name="Badge"/>
          <p:cNvSpPr txBox="1"/>
          <p:nvPr/>
        </p:nvSpPr>
        <p:spPr>
          <a:xfrm>
            <a:off x="961583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9615830" y="3840480"/>
            <a:ext cx="3383280" cy="1325880"/>
          </a:xfrm>
          <a:prstGeom prst="rect">
            <a:avLst/>
          </a:prstGeom>
          <a:noFill/>
          <a:ln/>
        </p:spPr>
        <p:txBody>
          <a:bodyPr wrap="square" lIns="0" tIns="0" rIns="0" bIns="0" rtlCol="0" anchor="t"/>
          <a:lstStyle/>
          <a:p>
            <a:pPr indent="0" marL="0">
              <a:buNone/>
            </a:pPr>
            <a:r>
              <a:rPr lang="en-US" sz="2100" b="1" dirty="0">
                <a:solidFill>
                  <a:schemeClr val="tx1"/>
                </a:solidFill>
              </a:rPr>
              <a:t>PROTECTED MODEL &amp; STATE ISOLATION</a:t>
            </a:r>
            <a:endParaRPr lang="en-US" sz="2100" dirty="0"/>
          </a:p>
        </p:txBody>
      </p:sp>
      <p:sp>
        <p:nvSpPr>
          <p:cNvPr id="14" name="Text 12"/>
          <p:cNvSpPr txBox="1"/>
          <p:nvPr/>
        </p:nvSpPr>
        <p:spPr>
          <a:xfrm>
            <a:off x="9615830" y="5257800"/>
            <a:ext cx="3383280" cy="3840480"/>
          </a:xfrm>
          <a:prstGeom prst="rect">
            <a:avLst/>
          </a:prstGeom>
          <a:noFill/>
          <a:ln/>
        </p:spPr>
        <p:txBody>
          <a:bodyPr wrap="square" lIns="0" tIns="0" rIns="0" bIns="0" rtlCol="0" anchor="t"/>
          <a:lstStyle/>
          <a:p>
            <a:pPr indent="0" marL="0">
              <a:lnSpc>
                <a:spcPct val="120000"/>
              </a:lnSpc>
              <a:buNone/>
            </a:pPr>
            <a:r>
              <a:rPr lang="en-US" sz="2000" dirty="0">
                <a:solidFill>
                  <a:schemeClr val="tx1"/>
                </a:solidFill>
              </a:rPr>
              <a:t>AI model weights, inference state and sensitive evaluation data are cryptographically isolated. No direct access from Red or Blue zones — all interactions routed via Policy Gateway.</a:t>
            </a:r>
            <a:endParaRPr lang="en-US" sz="2000" dirty="0"/>
          </a:p>
        </p:txBody>
      </p:sp>
      <p:sp>
        <p:nvSpPr>
          <p:cNvPr id="15" name="Card POLICY GATEWAY ENFORCEMENT"/>
          <p:cNvSpPr/>
          <p:nvPr/>
        </p:nvSpPr>
        <p:spPr>
          <a:xfrm>
            <a:off x="13577926" y="2697480"/>
            <a:ext cx="3977640" cy="6583680"/>
          </a:xfrm>
          <a:prstGeom prst="roundRect">
            <a:avLst>
              <a:gd name="adj" fmla="val 3448"/>
            </a:avLst>
          </a:prstGeom>
          <a:solidFill>
            <a:schemeClr val="bg2"/>
          </a:solidFill>
          <a:ln w="12700">
            <a:solidFill>
              <a:schemeClr val="accent1"/>
            </a:solidFill>
            <a:prstDash val="solid"/>
          </a:ln>
        </p:spPr>
      </p:sp>
      <p:sp>
        <p:nvSpPr>
          <p:cNvPr id="16" name="Badge"/>
          <p:cNvSpPr txBox="1"/>
          <p:nvPr/>
        </p:nvSpPr>
        <p:spPr>
          <a:xfrm>
            <a:off x="13897966"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3897966" y="3840480"/>
            <a:ext cx="3383280" cy="1325880"/>
          </a:xfrm>
          <a:prstGeom prst="rect">
            <a:avLst/>
          </a:prstGeom>
          <a:noFill/>
          <a:ln/>
        </p:spPr>
        <p:txBody>
          <a:bodyPr wrap="square" lIns="0" tIns="0" rIns="0" bIns="0" rtlCol="0" anchor="t"/>
          <a:lstStyle/>
          <a:p>
            <a:pPr indent="0" marL="0">
              <a:buNone/>
            </a:pPr>
            <a:r>
              <a:rPr lang="en-US" sz="2100" b="1" dirty="0">
                <a:solidFill>
                  <a:schemeClr val="tx1"/>
                </a:solidFill>
              </a:rPr>
              <a:t>POLICY GATEWAY ENFORCEMENT</a:t>
            </a:r>
            <a:endParaRPr lang="en-US" sz="2100" dirty="0"/>
          </a:p>
        </p:txBody>
      </p:sp>
      <p:sp>
        <p:nvSpPr>
          <p:cNvPr id="18" name="Text 16"/>
          <p:cNvSpPr txBox="1"/>
          <p:nvPr/>
        </p:nvSpPr>
        <p:spPr>
          <a:xfrm>
            <a:off x="13897966" y="5257800"/>
            <a:ext cx="3383280" cy="3840480"/>
          </a:xfrm>
          <a:prstGeom prst="rect">
            <a:avLst/>
          </a:prstGeom>
          <a:noFill/>
          <a:ln/>
        </p:spPr>
        <p:txBody>
          <a:bodyPr wrap="square" lIns="0" tIns="0" rIns="0" bIns="0" rtlCol="0" anchor="t"/>
          <a:lstStyle/>
          <a:p>
            <a:pPr indent="0" marL="0">
              <a:lnSpc>
                <a:spcPct val="120000"/>
              </a:lnSpc>
              <a:buNone/>
            </a:pPr>
            <a:r>
              <a:rPr lang="en-US" sz="2000" dirty="0">
                <a:solidFill>
                  <a:schemeClr val="tx1"/>
                </a:solidFill>
              </a:rPr>
              <a:t>Centralized zero-trust control plane governing all cross-boundary communication. Every request is authenticated, authorized and logged before transit — no implicit trust between zones.</a:t>
            </a:r>
            <a:endParaRPr lang="en-US" sz="20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TRUST BOUNDARY ENFORCEMENT</a:t>
            </a:r>
            <a:endParaRPr lang="en-US" sz="4000" dirty="0"/>
          </a:p>
        </p:txBody>
      </p:sp>
      <p:sp>
        <p:nvSpPr>
          <p:cNvPr id="3" name="Card DEFAULT-DENY COMMUNICATION"/>
          <p:cNvSpPr/>
          <p:nvPr/>
        </p:nvSpPr>
        <p:spPr>
          <a:xfrm>
            <a:off x="731520" y="2697480"/>
            <a:ext cx="5394960" cy="6583680"/>
          </a:xfrm>
          <a:prstGeom prst="roundRect">
            <a:avLst>
              <a:gd name="adj" fmla="val 2542"/>
            </a:avLst>
          </a:prstGeom>
          <a:solidFill>
            <a:schemeClr val="bg2"/>
          </a:solidFill>
          <a:ln w="12700">
            <a:solidFill>
              <a:schemeClr val="accent1"/>
            </a:solidFill>
            <a:prstDash val="solid"/>
          </a:ln>
        </p:spPr>
      </p:sp>
      <p:sp>
        <p:nvSpPr>
          <p:cNvPr id="4" name="Badge"/>
          <p:cNvSpPr txBox="1"/>
          <p:nvPr/>
        </p:nvSpPr>
        <p:spPr>
          <a:xfrm>
            <a:off x="1051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051560" y="3931920"/>
            <a:ext cx="4754880" cy="914400"/>
          </a:xfrm>
          <a:prstGeom prst="rect">
            <a:avLst/>
          </a:prstGeom>
          <a:noFill/>
          <a:ln/>
        </p:spPr>
        <p:txBody>
          <a:bodyPr wrap="square" lIns="0" tIns="0" rIns="0" bIns="0" rtlCol="0" anchor="t"/>
          <a:lstStyle/>
          <a:p>
            <a:pPr indent="0" marL="0">
              <a:buNone/>
            </a:pPr>
            <a:r>
              <a:rPr lang="en-US" sz="2200" b="1" dirty="0">
                <a:solidFill>
                  <a:schemeClr val="tx1"/>
                </a:solidFill>
              </a:rPr>
              <a:t>DEFAULT-DENY COMMUNICATION</a:t>
            </a:r>
            <a:endParaRPr lang="en-US" sz="2200" dirty="0"/>
          </a:p>
        </p:txBody>
      </p:sp>
      <p:sp>
        <p:nvSpPr>
          <p:cNvPr id="6" name="Text 4"/>
          <p:cNvSpPr txBox="1"/>
          <p:nvPr/>
        </p:nvSpPr>
        <p:spPr>
          <a:xfrm>
            <a:off x="1051560" y="4983480"/>
            <a:ext cx="4754880" cy="411480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All inter-zone traffic is blocked by default. No Red Team payload, Blue Team artifact, or model state data may cross a trust boundary without an explicit allow rule issued by the central Policy Gateway. Implicit trust is eliminated at every network layer.</a:t>
            </a:r>
            <a:endParaRPr lang="en-US" sz="2100" dirty="0"/>
          </a:p>
        </p:txBody>
      </p:sp>
      <p:sp>
        <p:nvSpPr>
          <p:cNvPr id="7" name="Card POLICY-BASED PAYLOAD INSPECTION"/>
          <p:cNvSpPr/>
          <p:nvPr/>
        </p:nvSpPr>
        <p:spPr>
          <a:xfrm>
            <a:off x="6446520" y="2697480"/>
            <a:ext cx="5394960" cy="6583680"/>
          </a:xfrm>
          <a:prstGeom prst="roundRect">
            <a:avLst>
              <a:gd name="adj" fmla="val 2542"/>
            </a:avLst>
          </a:prstGeom>
          <a:solidFill>
            <a:schemeClr val="bg2"/>
          </a:solidFill>
          <a:ln w="12700">
            <a:solidFill>
              <a:schemeClr val="accent1"/>
            </a:solidFill>
            <a:prstDash val="solid"/>
          </a:ln>
        </p:spPr>
      </p:sp>
      <p:sp>
        <p:nvSpPr>
          <p:cNvPr id="8" name="Badge"/>
          <p:cNvSpPr txBox="1"/>
          <p:nvPr/>
        </p:nvSpPr>
        <p:spPr>
          <a:xfrm>
            <a:off x="6766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6766560" y="3931920"/>
            <a:ext cx="4754880" cy="914400"/>
          </a:xfrm>
          <a:prstGeom prst="rect">
            <a:avLst/>
          </a:prstGeom>
          <a:noFill/>
          <a:ln/>
        </p:spPr>
        <p:txBody>
          <a:bodyPr wrap="square" lIns="0" tIns="0" rIns="0" bIns="0" rtlCol="0" anchor="t"/>
          <a:lstStyle/>
          <a:p>
            <a:pPr indent="0" marL="0">
              <a:buNone/>
            </a:pPr>
            <a:r>
              <a:rPr lang="en-US" sz="2200" b="1" dirty="0">
                <a:solidFill>
                  <a:schemeClr val="tx1"/>
                </a:solidFill>
              </a:rPr>
              <a:t>POLICY-BASED PAYLOAD INSPECTION</a:t>
            </a:r>
            <a:endParaRPr lang="en-US" sz="2200" dirty="0"/>
          </a:p>
        </p:txBody>
      </p:sp>
      <p:sp>
        <p:nvSpPr>
          <p:cNvPr id="10" name="Text 8"/>
          <p:cNvSpPr txBox="1"/>
          <p:nvPr/>
        </p:nvSpPr>
        <p:spPr>
          <a:xfrm>
            <a:off x="6766560" y="4983480"/>
            <a:ext cx="4754880" cy="411480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Every artifact transiting the Policy Gateway undergoes deep content inspection. Attack payloads are sandboxed and stripped of exfiltration vectors. Defense modules are statically analyzed before injection, ensuring no adversarial code contaminates the evaluation environment.</a:t>
            </a:r>
            <a:endParaRPr lang="en-US" sz="2100" dirty="0"/>
          </a:p>
        </p:txBody>
      </p:sp>
      <p:sp>
        <p:nvSpPr>
          <p:cNvPr id="11" name="Card CONTROLLED PROMOTION &amp; ROLLBACK"/>
          <p:cNvSpPr/>
          <p:nvPr/>
        </p:nvSpPr>
        <p:spPr>
          <a:xfrm>
            <a:off x="12161520" y="2697480"/>
            <a:ext cx="5394960" cy="6583680"/>
          </a:xfrm>
          <a:prstGeom prst="roundRect">
            <a:avLst>
              <a:gd name="adj" fmla="val 2542"/>
            </a:avLst>
          </a:prstGeom>
          <a:solidFill>
            <a:schemeClr val="bg2"/>
          </a:solidFill>
          <a:ln w="12700">
            <a:solidFill>
              <a:schemeClr val="accent1"/>
            </a:solidFill>
            <a:prstDash val="solid"/>
          </a:ln>
        </p:spPr>
      </p:sp>
      <p:sp>
        <p:nvSpPr>
          <p:cNvPr id="12" name="Badge"/>
          <p:cNvSpPr txBox="1"/>
          <p:nvPr/>
        </p:nvSpPr>
        <p:spPr>
          <a:xfrm>
            <a:off x="1248156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2481560" y="3931920"/>
            <a:ext cx="4754880" cy="914400"/>
          </a:xfrm>
          <a:prstGeom prst="rect">
            <a:avLst/>
          </a:prstGeom>
          <a:noFill/>
          <a:ln/>
        </p:spPr>
        <p:txBody>
          <a:bodyPr wrap="square" lIns="0" tIns="0" rIns="0" bIns="0" rtlCol="0" anchor="t"/>
          <a:lstStyle/>
          <a:p>
            <a:pPr indent="0" marL="0">
              <a:buNone/>
            </a:pPr>
            <a:r>
              <a:rPr lang="en-US" sz="2200" b="1" dirty="0">
                <a:solidFill>
                  <a:schemeClr val="tx1"/>
                </a:solidFill>
              </a:rPr>
              <a:t>CONTROLLED PROMOTION &amp; ROLLBACK</a:t>
            </a:r>
            <a:endParaRPr lang="en-US" sz="2200" dirty="0"/>
          </a:p>
        </p:txBody>
      </p:sp>
      <p:sp>
        <p:nvSpPr>
          <p:cNvPr id="14" name="Text 12"/>
          <p:cNvSpPr txBox="1"/>
          <p:nvPr/>
        </p:nvSpPr>
        <p:spPr>
          <a:xfrm>
            <a:off x="12481560" y="4983480"/>
            <a:ext cx="4754880" cy="411480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Validated Blue Team defenses are promoted to active status only after passing integrity checks and audit review. Any defense that degrades model safety metrics triggers an automated rollback to the last known-good state, preserving infrastructure integrity.</a:t>
            </a:r>
            <a:endParaRPr lang="en-US" sz="21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WORKFLOW</a:t>
            </a:r>
            <a:endParaRPr lang="en-US" sz="4000" dirty="0"/>
          </a:p>
        </p:txBody>
      </p:sp>
      <p:sp>
        <p:nvSpPr>
          <p:cNvPr id="3" name="Timeline"/>
          <p:cNvSpPr/>
          <p:nvPr/>
        </p:nvSpPr>
        <p:spPr>
          <a:xfrm>
            <a:off x="731520" y="3246120"/>
            <a:ext cx="16824960" cy="0"/>
          </a:xfrm>
          <a:prstGeom prst="line">
            <a:avLst/>
          </a:prstGeom>
          <a:noFill/>
          <a:ln w="25400">
            <a:solidFill>
              <a:schemeClr val="accent1"/>
            </a:solidFill>
            <a:prstDash val="solid"/>
            <a:tailEnd type="triangle"/>
          </a:ln>
        </p:spPr>
      </p:sp>
      <p:sp>
        <p:nvSpPr>
          <p:cNvPr id="4" name="Badge"/>
          <p:cNvSpPr txBox="1"/>
          <p:nvPr/>
        </p:nvSpPr>
        <p:spPr>
          <a:xfrm>
            <a:off x="731520" y="29260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ard RED TEAM"/>
          <p:cNvSpPr/>
          <p:nvPr/>
        </p:nvSpPr>
        <p:spPr>
          <a:xfrm>
            <a:off x="731520" y="4023360"/>
            <a:ext cx="5394960" cy="5257800"/>
          </a:xfrm>
          <a:prstGeom prst="roundRect">
            <a:avLst>
              <a:gd name="adj" fmla="val 2609"/>
            </a:avLst>
          </a:prstGeom>
          <a:solidFill>
            <a:schemeClr val="bg2"/>
          </a:solidFill>
          <a:ln w="12700">
            <a:solidFill>
              <a:schemeClr val="accent1"/>
            </a:solidFill>
            <a:prstDash val="solid"/>
          </a:ln>
        </p:spPr>
      </p:sp>
      <p:sp>
        <p:nvSpPr>
          <p:cNvPr id="6" name="Text 4"/>
          <p:cNvSpPr txBox="1"/>
          <p:nvPr/>
        </p:nvSpPr>
        <p:spPr>
          <a:xfrm>
            <a:off x="1051560" y="4343400"/>
            <a:ext cx="4754880" cy="640080"/>
          </a:xfrm>
          <a:prstGeom prst="rect">
            <a:avLst/>
          </a:prstGeom>
          <a:noFill/>
          <a:ln/>
        </p:spPr>
        <p:txBody>
          <a:bodyPr wrap="square" lIns="0" tIns="0" rIns="0" bIns="0" rtlCol="0" anchor="ctr"/>
          <a:lstStyle/>
          <a:p>
            <a:pPr indent="0" marL="0">
              <a:buNone/>
            </a:pPr>
            <a:r>
              <a:rPr lang="en-US" sz="2400" b="1" dirty="0">
                <a:solidFill>
                  <a:schemeClr val="tx1"/>
                </a:solidFill>
              </a:rPr>
              <a:t>RED TEAM</a:t>
            </a:r>
            <a:endParaRPr lang="en-US" sz="2400" dirty="0"/>
          </a:p>
        </p:txBody>
      </p:sp>
      <p:sp>
        <p:nvSpPr>
          <p:cNvPr id="7" name="Text 5"/>
          <p:cNvSpPr txBox="1"/>
          <p:nvPr/>
        </p:nvSpPr>
        <p:spPr>
          <a:xfrm>
            <a:off x="1051560" y="5166360"/>
            <a:ext cx="4754880" cy="393192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Submit controlled adversarial attack payloads into the isolated sandbox. Craft prompt injections, model evasion attempts, and data poisoning vectors — all safely contained within the zero-trust perimeter without exposing live systems.</a:t>
            </a:r>
            <a:endParaRPr lang="en-US" sz="2100" dirty="0"/>
          </a:p>
        </p:txBody>
      </p:sp>
      <p:sp>
        <p:nvSpPr>
          <p:cNvPr id="8" name="Badge"/>
          <p:cNvSpPr txBox="1"/>
          <p:nvPr/>
        </p:nvSpPr>
        <p:spPr>
          <a:xfrm>
            <a:off x="6446520" y="29260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Card BLUE TEAM"/>
          <p:cNvSpPr/>
          <p:nvPr/>
        </p:nvSpPr>
        <p:spPr>
          <a:xfrm>
            <a:off x="6446520" y="4023360"/>
            <a:ext cx="5394960" cy="5257800"/>
          </a:xfrm>
          <a:prstGeom prst="roundRect">
            <a:avLst>
              <a:gd name="adj" fmla="val 2609"/>
            </a:avLst>
          </a:prstGeom>
          <a:solidFill>
            <a:schemeClr val="bg2"/>
          </a:solidFill>
          <a:ln w="12700">
            <a:solidFill>
              <a:schemeClr val="accent1"/>
            </a:solidFill>
            <a:prstDash val="solid"/>
          </a:ln>
        </p:spPr>
      </p:sp>
      <p:sp>
        <p:nvSpPr>
          <p:cNvPr id="10" name="Text 8"/>
          <p:cNvSpPr txBox="1"/>
          <p:nvPr/>
        </p:nvSpPr>
        <p:spPr>
          <a:xfrm>
            <a:off x="6766560" y="4343400"/>
            <a:ext cx="4754880" cy="640080"/>
          </a:xfrm>
          <a:prstGeom prst="rect">
            <a:avLst/>
          </a:prstGeom>
          <a:noFill/>
          <a:ln/>
        </p:spPr>
        <p:txBody>
          <a:bodyPr wrap="square" lIns="0" tIns="0" rIns="0" bIns="0" rtlCol="0" anchor="ctr"/>
          <a:lstStyle/>
          <a:p>
            <a:pPr indent="0" marL="0">
              <a:buNone/>
            </a:pPr>
            <a:r>
              <a:rPr lang="en-US" sz="2400" b="1" dirty="0">
                <a:solidFill>
                  <a:schemeClr val="tx1"/>
                </a:solidFill>
              </a:rPr>
              <a:t>BLUE TEAM</a:t>
            </a:r>
            <a:endParaRPr lang="en-US" sz="2400" dirty="0"/>
          </a:p>
        </p:txBody>
      </p:sp>
      <p:sp>
        <p:nvSpPr>
          <p:cNvPr id="11" name="Text 9"/>
          <p:cNvSpPr txBox="1"/>
          <p:nvPr/>
        </p:nvSpPr>
        <p:spPr>
          <a:xfrm>
            <a:off x="6766560" y="5166360"/>
            <a:ext cx="4754880" cy="393192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Receive sanitized threat signals via the Policy Gateway and iterate on defense strategies in real time. Build, test, and validate mitigations against live adversarial inputs while model state and defense logic remain fully isolated from the Red Team environment.</a:t>
            </a:r>
            <a:endParaRPr lang="en-US" sz="2100" dirty="0"/>
          </a:p>
        </p:txBody>
      </p:sp>
      <p:sp>
        <p:nvSpPr>
          <p:cNvPr id="12" name="Badge"/>
          <p:cNvSpPr txBox="1"/>
          <p:nvPr/>
        </p:nvSpPr>
        <p:spPr>
          <a:xfrm>
            <a:off x="12161520" y="29260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Card SECURITY OPERATORS"/>
          <p:cNvSpPr/>
          <p:nvPr/>
        </p:nvSpPr>
        <p:spPr>
          <a:xfrm>
            <a:off x="12161520" y="4023360"/>
            <a:ext cx="5394960" cy="5257800"/>
          </a:xfrm>
          <a:prstGeom prst="roundRect">
            <a:avLst>
              <a:gd name="adj" fmla="val 2609"/>
            </a:avLst>
          </a:prstGeom>
          <a:solidFill>
            <a:schemeClr val="bg2"/>
          </a:solidFill>
          <a:ln w="12700">
            <a:solidFill>
              <a:schemeClr val="accent1"/>
            </a:solidFill>
            <a:prstDash val="solid"/>
          </a:ln>
        </p:spPr>
      </p:sp>
      <p:sp>
        <p:nvSpPr>
          <p:cNvPr id="14" name="Text 12"/>
          <p:cNvSpPr txBox="1"/>
          <p:nvPr/>
        </p:nvSpPr>
        <p:spPr>
          <a:xfrm>
            <a:off x="12481560" y="4343400"/>
            <a:ext cx="4754880" cy="640080"/>
          </a:xfrm>
          <a:prstGeom prst="rect">
            <a:avLst/>
          </a:prstGeom>
          <a:noFill/>
          <a:ln/>
        </p:spPr>
        <p:txBody>
          <a:bodyPr wrap="square" lIns="0" tIns="0" rIns="0" bIns="0" rtlCol="0" anchor="ctr"/>
          <a:lstStyle/>
          <a:p>
            <a:pPr indent="0" marL="0">
              <a:buNone/>
            </a:pPr>
            <a:r>
              <a:rPr lang="en-US" sz="2400" b="1" dirty="0">
                <a:solidFill>
                  <a:schemeClr val="tx1"/>
                </a:solidFill>
              </a:rPr>
              <a:t>SECURITY OPERATORS</a:t>
            </a:r>
            <a:endParaRPr lang="en-US" sz="2400" dirty="0"/>
          </a:p>
        </p:txBody>
      </p:sp>
      <p:sp>
        <p:nvSpPr>
          <p:cNvPr id="15" name="Text 13"/>
          <p:cNvSpPr txBox="1"/>
          <p:nvPr/>
        </p:nvSpPr>
        <p:spPr>
          <a:xfrm>
            <a:off x="12481560" y="5166360"/>
            <a:ext cx="4754880" cy="3931920"/>
          </a:xfrm>
          <a:prstGeom prst="rect">
            <a:avLst/>
          </a:prstGeom>
          <a:noFill/>
          <a:ln/>
        </p:spPr>
        <p:txBody>
          <a:bodyPr wrap="square" lIns="0" tIns="0" rIns="0" bIns="0" rtlCol="0" anchor="t"/>
          <a:lstStyle/>
          <a:p>
            <a:pPr indent="0" marL="0">
              <a:lnSpc>
                <a:spcPct val="120000"/>
              </a:lnSpc>
              <a:buNone/>
            </a:pPr>
            <a:r>
              <a:rPr lang="en-US" sz="2100" dirty="0">
                <a:solidFill>
                  <a:schemeClr val="tx1"/>
                </a:solidFill>
              </a:rPr>
              <a:t>Monitor the Audit Layer for anomalous cross-boundary activity. Review flagged security events, approve or reject policy updates through the central Policy Gateway, and investigate incidents with full forensic telemetry — all from a unified control plane.</a:t>
            </a:r>
            <a:endParaRPr lang="en-US" sz="21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AUDIT &amp; MONITORING</a:t>
            </a:r>
            <a:endParaRPr lang="en-US" sz="4000" dirty="0"/>
          </a:p>
        </p:txBody>
      </p:sp>
      <p:sp>
        <p:nvSpPr>
          <p:cNvPr id="3" name="Card 0"/>
          <p:cNvSpPr/>
          <p:nvPr/>
        </p:nvSpPr>
        <p:spPr>
          <a:xfrm>
            <a:off x="731520" y="2697480"/>
            <a:ext cx="8229600" cy="6583680"/>
          </a:xfrm>
          <a:prstGeom prst="roundRect">
            <a:avLst>
              <a:gd name="adj" fmla="val 2083"/>
            </a:avLst>
          </a:prstGeom>
          <a:solidFill>
            <a:schemeClr val="bg2"/>
          </a:solidFill>
          <a:ln w="12700">
            <a:solidFill>
              <a:schemeClr val="accent1"/>
            </a:solidFill>
            <a:prstDash val="solid"/>
          </a:ln>
        </p:spPr>
      </p:sp>
      <p:sp>
        <p:nvSpPr>
          <p:cNvPr id="4" name="Badge"/>
          <p:cNvSpPr txBox="1"/>
          <p:nvPr/>
        </p:nvSpPr>
        <p:spPr>
          <a:xfrm>
            <a:off x="109728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920240" y="2926080"/>
            <a:ext cx="6675120" cy="822960"/>
          </a:xfrm>
          <a:prstGeom prst="rect">
            <a:avLst/>
          </a:prstGeom>
          <a:noFill/>
          <a:ln/>
        </p:spPr>
        <p:txBody>
          <a:bodyPr wrap="square" lIns="0" tIns="0" rIns="0" bIns="0" rtlCol="0" anchor="ctr"/>
          <a:lstStyle/>
          <a:p>
            <a:pPr indent="0" marL="0">
              <a:buNone/>
            </a:pPr>
            <a:r>
              <a:rPr lang="en-US" sz="2200" b="1" dirty="0">
                <a:solidFill>
                  <a:schemeClr val="tx1"/>
                </a:solidFill>
              </a:rPr>
              <a:t>REAL-TIME CROSS-BOUNDARY EVENT TRACKING</a:t>
            </a:r>
            <a:endParaRPr lang="en-US" sz="2200" dirty="0"/>
          </a:p>
        </p:txBody>
      </p:sp>
      <p:sp>
        <p:nvSpPr>
          <p:cNvPr id="6" name="Text 4"/>
          <p:cNvSpPr txBox="1"/>
          <p:nvPr/>
        </p:nvSpPr>
        <p:spPr>
          <a:xfrm>
            <a:off x="1097280" y="4114800"/>
            <a:ext cx="7498080" cy="3657600"/>
          </a:xfrm>
          <a:prstGeom prst="rect">
            <a:avLst/>
          </a:prstGeom>
          <a:noFill/>
          <a:ln/>
        </p:spPr>
        <p:txBody>
          <a:bodyPr wrap="square" lIns="0" tIns="0" rIns="0" bIns="0" rtlCol="0" anchor="t"/>
          <a:lstStyle/>
          <a:p>
            <a:pPr indent="0" marL="0">
              <a:lnSpc>
                <a:spcPct val="125000"/>
              </a:lnSpc>
              <a:buNone/>
            </a:pPr>
            <a:r>
              <a:rPr lang="en-US" sz="2400" dirty="0">
                <a:solidFill>
                  <a:schemeClr val="tx1"/>
                </a:solidFill>
              </a:rPr>
              <a:t>The Audit Layer continuously logs all inter-zone communications, policy gateway decisions, and model state access attempts. Every Red Team payload dispatch and Blue Team defense invocation is timestamped, hashed, and stored in a tamper-evident ledger for forensic traceability.</a:t>
            </a:r>
            <a:endParaRPr lang="en-US" sz="2400" dirty="0"/>
          </a:p>
        </p:txBody>
      </p:sp>
      <p:sp>
        <p:nvSpPr>
          <p:cNvPr id="7" name="Chip"/>
          <p:cNvSpPr txBox="1"/>
          <p:nvPr/>
        </p:nvSpPr>
        <p:spPr>
          <a:xfrm>
            <a:off x="109728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TIMESTAMPED</a:t>
            </a:r>
            <a:endParaRPr lang="en-US" sz="1400" dirty="0"/>
          </a:p>
        </p:txBody>
      </p:sp>
      <p:sp>
        <p:nvSpPr>
          <p:cNvPr id="8" name="Chip"/>
          <p:cNvSpPr txBox="1"/>
          <p:nvPr/>
        </p:nvSpPr>
        <p:spPr>
          <a:xfrm>
            <a:off x="361188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HASHED</a:t>
            </a:r>
            <a:endParaRPr lang="en-US" sz="1400" dirty="0"/>
          </a:p>
        </p:txBody>
      </p:sp>
      <p:sp>
        <p:nvSpPr>
          <p:cNvPr id="9" name="Chip"/>
          <p:cNvSpPr txBox="1"/>
          <p:nvPr/>
        </p:nvSpPr>
        <p:spPr>
          <a:xfrm>
            <a:off x="612648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TAMPER-EVIDENT</a:t>
            </a:r>
            <a:endParaRPr lang="en-US" sz="1400" dirty="0"/>
          </a:p>
        </p:txBody>
      </p:sp>
      <p:sp>
        <p:nvSpPr>
          <p:cNvPr id="10" name="Card 1"/>
          <p:cNvSpPr/>
          <p:nvPr/>
        </p:nvSpPr>
        <p:spPr>
          <a:xfrm>
            <a:off x="9326880" y="2697480"/>
            <a:ext cx="8229600" cy="6583680"/>
          </a:xfrm>
          <a:prstGeom prst="roundRect">
            <a:avLst>
              <a:gd name="adj" fmla="val 2083"/>
            </a:avLst>
          </a:prstGeom>
          <a:solidFill>
            <a:schemeClr val="bg2"/>
          </a:solidFill>
          <a:ln w="12700">
            <a:solidFill>
              <a:schemeClr val="accent1"/>
            </a:solidFill>
            <a:prstDash val="solid"/>
          </a:ln>
        </p:spPr>
      </p:sp>
      <p:sp>
        <p:nvSpPr>
          <p:cNvPr id="11" name="Badge"/>
          <p:cNvSpPr txBox="1"/>
          <p:nvPr/>
        </p:nvSpPr>
        <p:spPr>
          <a:xfrm>
            <a:off x="9692640" y="30175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10515600" y="2926080"/>
            <a:ext cx="6675120" cy="822960"/>
          </a:xfrm>
          <a:prstGeom prst="rect">
            <a:avLst/>
          </a:prstGeom>
          <a:noFill/>
          <a:ln/>
        </p:spPr>
        <p:txBody>
          <a:bodyPr wrap="square" lIns="0" tIns="0" rIns="0" bIns="0" rtlCol="0" anchor="ctr"/>
          <a:lstStyle/>
          <a:p>
            <a:pPr indent="0" marL="0">
              <a:buNone/>
            </a:pPr>
            <a:r>
              <a:rPr lang="en-US" sz="2200" b="1" dirty="0">
                <a:solidFill>
                  <a:schemeClr val="tx1"/>
                </a:solidFill>
              </a:rPr>
              <a:t>ANOMALY DETECTION &amp; ESCALATION SIGNALS</a:t>
            </a:r>
            <a:endParaRPr lang="en-US" sz="2200" dirty="0"/>
          </a:p>
        </p:txBody>
      </p:sp>
      <p:sp>
        <p:nvSpPr>
          <p:cNvPr id="13" name="Text 11"/>
          <p:cNvSpPr txBox="1"/>
          <p:nvPr/>
        </p:nvSpPr>
        <p:spPr>
          <a:xfrm>
            <a:off x="9692640" y="4114800"/>
            <a:ext cx="7498080" cy="3657600"/>
          </a:xfrm>
          <a:prstGeom prst="rect">
            <a:avLst/>
          </a:prstGeom>
          <a:noFill/>
          <a:ln/>
        </p:spPr>
        <p:txBody>
          <a:bodyPr wrap="square" lIns="0" tIns="0" rIns="0" bIns="0" rtlCol="0" anchor="t"/>
          <a:lstStyle/>
          <a:p>
            <a:pPr indent="0" marL="0">
              <a:lnSpc>
                <a:spcPct val="125000"/>
              </a:lnSpc>
              <a:buNone/>
            </a:pPr>
            <a:r>
              <a:rPr lang="en-US" sz="2400" dirty="0">
                <a:solidFill>
                  <a:schemeClr val="tx1"/>
                </a:solidFill>
              </a:rPr>
              <a:t>Behavioral baselines are continuously updated across sandbox zones. Deviations in access frequency, privilege escalation attempts, and unauthorized boundary probes trigger automated alert escalations — enabling real-time incident response without halting active evaluation pipelines.</a:t>
            </a:r>
            <a:endParaRPr lang="en-US" sz="2400" dirty="0"/>
          </a:p>
        </p:txBody>
      </p:sp>
      <p:sp>
        <p:nvSpPr>
          <p:cNvPr id="14" name="Chip"/>
          <p:cNvSpPr txBox="1"/>
          <p:nvPr/>
        </p:nvSpPr>
        <p:spPr>
          <a:xfrm>
            <a:off x="969264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ACCESS FREQUENCY</a:t>
            </a:r>
            <a:endParaRPr lang="en-US" sz="1400" dirty="0"/>
          </a:p>
        </p:txBody>
      </p:sp>
      <p:sp>
        <p:nvSpPr>
          <p:cNvPr id="15" name="Chip"/>
          <p:cNvSpPr txBox="1"/>
          <p:nvPr/>
        </p:nvSpPr>
        <p:spPr>
          <a:xfrm>
            <a:off x="1220724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PRIVILEGE ESCALATION</a:t>
            </a:r>
            <a:endParaRPr lang="en-US" sz="1400" dirty="0"/>
          </a:p>
        </p:txBody>
      </p:sp>
      <p:sp>
        <p:nvSpPr>
          <p:cNvPr id="16" name="Chip"/>
          <p:cNvSpPr txBox="1"/>
          <p:nvPr/>
        </p:nvSpPr>
        <p:spPr>
          <a:xfrm>
            <a:off x="14721840" y="8138160"/>
            <a:ext cx="2331720" cy="502920"/>
          </a:xfrm>
          <a:prstGeom prst="roundRect">
            <a:avLst>
              <a:gd name="adj" fmla="val 49091"/>
            </a:avLst>
          </a:prstGeom>
          <a:solidFill>
            <a:schemeClr val="bg1"/>
          </a:solidFill>
          <a:ln w="12700">
            <a:solidFill>
              <a:schemeClr val="accent2"/>
            </a:solidFill>
          </a:ln>
        </p:spPr>
        <p:txBody>
          <a:bodyPr wrap="square" lIns="0" tIns="0" rIns="0" bIns="0" rtlCol="0" anchor="ctr"/>
          <a:lstStyle/>
          <a:p>
            <a:pPr algn="ctr" indent="0" marL="0">
              <a:buNone/>
            </a:pPr>
            <a:r>
              <a:rPr lang="en-US" sz="1400" b="1" dirty="0">
                <a:solidFill>
                  <a:schemeClr val="accent1"/>
                </a:solidFill>
              </a:rPr>
              <a:t>BOUNDARY PROBES</a:t>
            </a:r>
            <a:endParaRPr lang="en-US" sz="14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THREAT EXPOSURE ANALYSIS</a:t>
            </a:r>
            <a:endParaRPr lang="en-US" sz="4000" dirty="0"/>
          </a:p>
        </p:txBody>
      </p:sp>
      <p:sp>
        <p:nvSpPr>
          <p:cNvPr id="3" name="Text 1"/>
          <p:cNvSpPr txBox="1"/>
          <p:nvPr/>
        </p:nvSpPr>
        <p:spPr>
          <a:xfrm>
            <a:off x="731520" y="2651760"/>
            <a:ext cx="8046720" cy="457200"/>
          </a:xfrm>
          <a:prstGeom prst="rect">
            <a:avLst/>
          </a:prstGeom>
          <a:noFill/>
          <a:ln/>
        </p:spPr>
        <p:txBody>
          <a:bodyPr wrap="square" lIns="0" tIns="0" rIns="0" bIns="0" rtlCol="0" anchor="t"/>
          <a:lstStyle/>
          <a:p>
            <a:pPr indent="0" marL="0">
              <a:buNone/>
            </a:pPr>
            <a:r>
              <a:rPr lang="en-US" sz="1900" b="1" dirty="0">
                <a:solidFill>
                  <a:schemeClr val="accent1"/>
                </a:solidFill>
              </a:rPr>
              <a:t>SHARED VS. ISOLATED TESTING: SECURITY GAP METRICS</a:t>
            </a:r>
            <a:endParaRPr lang="en-US" sz="1900" dirty="0"/>
          </a:p>
        </p:txBody>
      </p:sp>
      <p:sp>
        <p:nvSpPr>
          <p:cNvPr id="4" name="Text 2"/>
          <p:cNvSpPr txBox="1"/>
          <p:nvPr/>
        </p:nvSpPr>
        <p:spPr>
          <a:xfrm>
            <a:off x="731520" y="3200400"/>
            <a:ext cx="8046720" cy="640080"/>
          </a:xfrm>
          <a:prstGeom prst="rect">
            <a:avLst/>
          </a:prstGeom>
          <a:noFill/>
          <a:ln/>
        </p:spPr>
        <p:txBody>
          <a:bodyPr wrap="square" lIns="0" tIns="0" rIns="0" bIns="0" rtlCol="0" anchor="t"/>
          <a:lstStyle/>
          <a:p>
            <a:pPr indent="0" marL="0">
              <a:buNone/>
            </a:pPr>
            <a:r>
              <a:rPr lang="en-US" sz="1700" dirty="0">
                <a:solidFill>
                  <a:schemeClr val="tx1"/>
                </a:solidFill>
              </a:rPr>
              <a:t>Uncontrolled shared environments expose critical vulnerabilities across every attack vector.</a:t>
            </a:r>
            <a:endParaRPr lang="en-US" sz="1700" dirty="0"/>
          </a:p>
        </p:txBody>
      </p:sp>
      <p:sp>
        <p:nvSpPr>
          <p:cNvPr id="5" name="Metric Attack Containment"/>
          <p:cNvSpPr txBox="1"/>
          <p:nvPr/>
        </p:nvSpPr>
        <p:spPr>
          <a:xfrm>
            <a:off x="731520" y="4023360"/>
            <a:ext cx="8046720" cy="1234440"/>
          </a:xfrm>
          <a:prstGeom prst="rect">
            <a:avLst/>
          </a:prstGeom>
          <a:noFill/>
          <a:ln/>
        </p:spPr>
        <p:txBody>
          <a:bodyPr wrap="square" lIns="0" tIns="0" rIns="0" bIns="0" rtlCol="0" anchor="t"/>
          <a:lstStyle/>
          <a:p>
            <a:pPr indent="0" marL="0">
              <a:buNone/>
            </a:pPr>
            <a:r>
              <a:rPr lang="en-US" sz="1800" b="1" dirty="0">
                <a:solidFill>
                  <a:schemeClr val="accent1"/>
                </a:solidFill>
              </a:rPr>
              <a:t>Attack Containment</a:t>
            </a:r>
            <a:endParaRPr lang="en-US" sz="1800" dirty="0"/>
          </a:p>
          <a:p>
            <a:pPr indent="0" marL="0">
              <a:buNone/>
            </a:pPr>
            <a:r>
              <a:rPr lang="en-US" sz="1600" dirty="0">
                <a:solidFill>
                  <a:schemeClr val="tx1"/>
                </a:solidFill>
              </a:rPr>
              <a:t>12% success rate in shared infra vs. 97% with SentinelMesh AI zero-trust sandboxing.</a:t>
            </a:r>
            <a:endParaRPr lang="en-US" sz="1800" dirty="0"/>
          </a:p>
        </p:txBody>
      </p:sp>
      <p:sp>
        <p:nvSpPr>
          <p:cNvPr id="6" name="Metric Data Exposure Risk"/>
          <p:cNvSpPr txBox="1"/>
          <p:nvPr/>
        </p:nvSpPr>
        <p:spPr>
          <a:xfrm>
            <a:off x="731520" y="5349240"/>
            <a:ext cx="8046720" cy="1234440"/>
          </a:xfrm>
          <a:prstGeom prst="rect">
            <a:avLst/>
          </a:prstGeom>
          <a:noFill/>
          <a:ln/>
        </p:spPr>
        <p:txBody>
          <a:bodyPr wrap="square" lIns="0" tIns="0" rIns="0" bIns="0" rtlCol="0" anchor="t"/>
          <a:lstStyle/>
          <a:p>
            <a:pPr indent="0" marL="0">
              <a:buNone/>
            </a:pPr>
            <a:r>
              <a:rPr lang="en-US" sz="1800" b="1" dirty="0">
                <a:solidFill>
                  <a:schemeClr val="accent1"/>
                </a:solidFill>
              </a:rPr>
              <a:t>Data Exposure Risk</a:t>
            </a:r>
            <a:endParaRPr lang="en-US" sz="1800" dirty="0"/>
          </a:p>
          <a:p>
            <a:pPr indent="0" marL="0">
              <a:buNone/>
            </a:pPr>
            <a:r>
              <a:rPr lang="en-US" sz="1600" dirty="0">
                <a:solidFill>
                  <a:schemeClr val="tx1"/>
                </a:solidFill>
              </a:rPr>
              <a:t>Shared pipelines leak model weights and evaluation data in 68% of red-team sessions — reduced to near-zero via cryptographic boundary enforcement.</a:t>
            </a:r>
            <a:endParaRPr lang="en-US" sz="1800" dirty="0"/>
          </a:p>
        </p:txBody>
      </p:sp>
      <p:sp>
        <p:nvSpPr>
          <p:cNvPr id="7" name="Metric Traceability"/>
          <p:cNvSpPr txBox="1"/>
          <p:nvPr/>
        </p:nvSpPr>
        <p:spPr>
          <a:xfrm>
            <a:off x="731520" y="6675120"/>
            <a:ext cx="8046720" cy="1234440"/>
          </a:xfrm>
          <a:prstGeom prst="rect">
            <a:avLst/>
          </a:prstGeom>
          <a:noFill/>
          <a:ln/>
        </p:spPr>
        <p:txBody>
          <a:bodyPr wrap="square" lIns="0" tIns="0" rIns="0" bIns="0" rtlCol="0" anchor="t"/>
          <a:lstStyle/>
          <a:p>
            <a:pPr indent="0" marL="0">
              <a:buNone/>
            </a:pPr>
            <a:r>
              <a:rPr lang="en-US" sz="1800" b="1" dirty="0">
                <a:solidFill>
                  <a:schemeClr val="accent1"/>
                </a:solidFill>
              </a:rPr>
              <a:t>Traceability</a:t>
            </a:r>
            <a:endParaRPr lang="en-US" sz="1800" dirty="0"/>
          </a:p>
          <a:p>
            <a:pPr indent="0" marL="0">
              <a:buNone/>
            </a:pPr>
            <a:r>
              <a:rPr lang="en-US" sz="1600" dirty="0">
                <a:solidFill>
                  <a:schemeClr val="tx1"/>
                </a:solidFill>
              </a:rPr>
              <a:t>Audit coverage drops to 31% without isolated logging; the immutable event ledger achieves 100% cross-boundary traceability.</a:t>
            </a:r>
            <a:endParaRPr lang="en-US" sz="1800" dirty="0"/>
          </a:p>
        </p:txBody>
      </p:sp>
      <p:sp>
        <p:nvSpPr>
          <p:cNvPr id="8" name="Metric Incident Response Readiness"/>
          <p:cNvSpPr txBox="1"/>
          <p:nvPr/>
        </p:nvSpPr>
        <p:spPr>
          <a:xfrm>
            <a:off x="731520" y="8001000"/>
            <a:ext cx="8046720" cy="1234440"/>
          </a:xfrm>
          <a:prstGeom prst="rect">
            <a:avLst/>
          </a:prstGeom>
          <a:noFill/>
          <a:ln/>
        </p:spPr>
        <p:txBody>
          <a:bodyPr wrap="square" lIns="0" tIns="0" rIns="0" bIns="0" rtlCol="0" anchor="t"/>
          <a:lstStyle/>
          <a:p>
            <a:pPr indent="0" marL="0">
              <a:buNone/>
            </a:pPr>
            <a:r>
              <a:rPr lang="en-US" sz="1800" b="1" dirty="0">
                <a:solidFill>
                  <a:schemeClr val="accent1"/>
                </a:solidFill>
              </a:rPr>
              <a:t>Incident Response Readiness</a:t>
            </a:r>
            <a:endParaRPr lang="en-US" sz="1800" dirty="0"/>
          </a:p>
          <a:p>
            <a:pPr indent="0" marL="0">
              <a:buNone/>
            </a:pPr>
            <a:r>
              <a:rPr lang="en-US" sz="1600" dirty="0">
                <a:solidFill>
                  <a:schemeClr val="tx1"/>
                </a:solidFill>
              </a:rPr>
              <a:t>Mean time to detect adversarial payload escape is 4.2 hours in shared infra vs. under 8 minutes with real-time Policy Gateway alerting.</a:t>
            </a:r>
            <a:endParaRPr lang="en-US" sz="1800" dirty="0"/>
          </a:p>
        </p:txBody>
      </p:sp>
      <p:sp>
        <p:nvSpPr>
          <p:cNvPr id="9" name="Chart card"/>
          <p:cNvSpPr/>
          <p:nvPr/>
        </p:nvSpPr>
        <p:spPr>
          <a:xfrm>
            <a:off x="9235440" y="2697480"/>
            <a:ext cx="8321040" cy="6583680"/>
          </a:xfrm>
          <a:prstGeom prst="roundRect">
            <a:avLst>
              <a:gd name="adj" fmla="val 2083"/>
            </a:avLst>
          </a:prstGeom>
          <a:solidFill>
            <a:schemeClr val="bg2"/>
          </a:solidFill>
          <a:ln w="12700">
            <a:solidFill>
              <a:schemeClr val="accent1"/>
            </a:solidFill>
            <a:prstDash val="solid"/>
          </a:ln>
        </p:spPr>
      </p:sp>
      <p:graphicFrame>
        <p:nvGraphicFramePr>
          <p:cNvPr id="10" name="Chart 0" descr=""/>
          <p:cNvGraphicFramePr/>
          <p:nvPr/>
        </p:nvGraphicFramePr>
        <p:xfrm>
          <a:off x="9418320" y="2834640"/>
          <a:ext cx="7955280" cy="58521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9601200" y="8732520"/>
            <a:ext cx="7680960" cy="365760"/>
          </a:xfrm>
          <a:prstGeom prst="rect">
            <a:avLst/>
          </a:prstGeom>
          <a:noFill/>
          <a:ln/>
        </p:spPr>
        <p:txBody>
          <a:bodyPr wrap="square" lIns="0" tIns="0" rIns="0" bIns="0" rtlCol="0" anchor="t"/>
          <a:lstStyle/>
          <a:p>
            <a:pPr indent="0" marL="0">
              <a:buNone/>
            </a:pPr>
            <a:r>
              <a:rPr lang="en-US" sz="1400" dirty="0">
                <a:solidFill>
                  <a:schemeClr val="accent4"/>
                </a:solidFill>
              </a:rPr>
              <a:t>Data exposure is a lower-is-better metric; “near-zero” is plotted as 0.</a:t>
            </a:r>
            <a:endParaRPr lang="en-US" sz="14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WORKFLOW &amp; VALIDATION</a:t>
            </a:r>
            <a:endParaRPr lang="en-US" sz="4000" dirty="0"/>
          </a:p>
        </p:txBody>
      </p:sp>
      <p:sp>
        <p:nvSpPr>
          <p:cNvPr id="3" name="Card RED TEAM CYCLE"/>
          <p:cNvSpPr/>
          <p:nvPr/>
        </p:nvSpPr>
        <p:spPr>
          <a:xfrm>
            <a:off x="731520" y="2697480"/>
            <a:ext cx="8229600" cy="6583680"/>
          </a:xfrm>
          <a:prstGeom prst="roundRect">
            <a:avLst>
              <a:gd name="adj" fmla="val 2083"/>
            </a:avLst>
          </a:prstGeom>
          <a:solidFill>
            <a:schemeClr val="bg2"/>
          </a:solidFill>
          <a:ln w="12700">
            <a:solidFill>
              <a:schemeClr val="accent1"/>
            </a:solidFill>
            <a:prstDash val="solid"/>
          </a:ln>
        </p:spPr>
      </p:sp>
      <p:sp>
        <p:nvSpPr>
          <p:cNvPr id="4" name="Text 2"/>
          <p:cNvSpPr txBox="1"/>
          <p:nvPr/>
        </p:nvSpPr>
        <p:spPr>
          <a:xfrm>
            <a:off x="1097280" y="2926080"/>
            <a:ext cx="7498080" cy="548640"/>
          </a:xfrm>
          <a:prstGeom prst="rect">
            <a:avLst/>
          </a:prstGeom>
          <a:noFill/>
          <a:ln/>
        </p:spPr>
        <p:txBody>
          <a:bodyPr wrap="square" lIns="0" tIns="0" rIns="0" bIns="0" rtlCol="0" anchor="ctr"/>
          <a:lstStyle/>
          <a:p>
            <a:pPr indent="0" marL="0">
              <a:buNone/>
            </a:pPr>
            <a:r>
              <a:rPr lang="en-US" sz="2400" b="1" dirty="0">
                <a:solidFill>
                  <a:schemeClr val="tx1"/>
                </a:solidFill>
              </a:rPr>
              <a:t>RED TEAM CYCLE</a:t>
            </a:r>
            <a:endParaRPr lang="en-US" sz="2400" dirty="0"/>
          </a:p>
        </p:txBody>
      </p:sp>
      <p:sp>
        <p:nvSpPr>
          <p:cNvPr id="5" name="Step"/>
          <p:cNvSpPr txBox="1"/>
          <p:nvPr/>
        </p:nvSpPr>
        <p:spPr>
          <a:xfrm>
            <a:off x="109728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Attack payload submitted</a:t>
            </a:r>
            <a:endParaRPr lang="en-US" sz="1600" dirty="0"/>
          </a:p>
        </p:txBody>
      </p:sp>
      <p:sp>
        <p:nvSpPr>
          <p:cNvPr id="6" name="Text 4"/>
          <p:cNvSpPr txBox="1"/>
          <p:nvPr/>
        </p:nvSpPr>
        <p:spPr>
          <a:xfrm>
            <a:off x="283464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7" name="Step"/>
          <p:cNvSpPr txBox="1"/>
          <p:nvPr/>
        </p:nvSpPr>
        <p:spPr>
          <a:xfrm>
            <a:off x="301752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Policy Gateway inspection</a:t>
            </a:r>
            <a:endParaRPr lang="en-US" sz="1600" dirty="0"/>
          </a:p>
        </p:txBody>
      </p:sp>
      <p:sp>
        <p:nvSpPr>
          <p:cNvPr id="8" name="Text 6"/>
          <p:cNvSpPr txBox="1"/>
          <p:nvPr/>
        </p:nvSpPr>
        <p:spPr>
          <a:xfrm>
            <a:off x="475488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9" name="Step"/>
          <p:cNvSpPr txBox="1"/>
          <p:nvPr/>
        </p:nvSpPr>
        <p:spPr>
          <a:xfrm>
            <a:off x="493776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Sandboxed model evaluation</a:t>
            </a:r>
            <a:endParaRPr lang="en-US" sz="1600" dirty="0"/>
          </a:p>
        </p:txBody>
      </p:sp>
      <p:sp>
        <p:nvSpPr>
          <p:cNvPr id="10" name="Text 8"/>
          <p:cNvSpPr txBox="1"/>
          <p:nvPr/>
        </p:nvSpPr>
        <p:spPr>
          <a:xfrm>
            <a:off x="667512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11" name="Step"/>
          <p:cNvSpPr txBox="1"/>
          <p:nvPr/>
        </p:nvSpPr>
        <p:spPr>
          <a:xfrm>
            <a:off x="685800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Result returned with audit log</a:t>
            </a:r>
            <a:endParaRPr lang="en-US" sz="1600" dirty="0"/>
          </a:p>
        </p:txBody>
      </p:sp>
      <p:sp>
        <p:nvSpPr>
          <p:cNvPr id="12" name="Text 10"/>
          <p:cNvSpPr txBox="1"/>
          <p:nvPr/>
        </p:nvSpPr>
        <p:spPr>
          <a:xfrm>
            <a:off x="1097280" y="5669280"/>
            <a:ext cx="3657600" cy="100584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99.8%</a:t>
            </a:r>
            <a:endParaRPr lang="en-US" sz="5200" dirty="0"/>
          </a:p>
        </p:txBody>
      </p:sp>
      <p:sp>
        <p:nvSpPr>
          <p:cNvPr id="13" name="Text 11"/>
          <p:cNvSpPr txBox="1"/>
          <p:nvPr/>
        </p:nvSpPr>
        <p:spPr>
          <a:xfrm>
            <a:off x="1097280" y="6675120"/>
            <a:ext cx="3657600" cy="457200"/>
          </a:xfrm>
          <a:prstGeom prst="rect">
            <a:avLst/>
          </a:prstGeom>
          <a:noFill/>
          <a:ln/>
        </p:spPr>
        <p:txBody>
          <a:bodyPr wrap="square" lIns="0" tIns="0" rIns="0" bIns="0" rtlCol="0" anchor="t"/>
          <a:lstStyle/>
          <a:p>
            <a:pPr indent="0" marL="0">
              <a:buNone/>
            </a:pPr>
            <a:r>
              <a:rPr lang="en-US" sz="1800" b="1" dirty="0">
                <a:solidFill>
                  <a:schemeClr val="tx1"/>
                </a:solidFill>
              </a:rPr>
              <a:t>Containment Rate</a:t>
            </a:r>
            <a:endParaRPr lang="en-US" sz="1800" dirty="0"/>
          </a:p>
        </p:txBody>
      </p:sp>
      <p:sp>
        <p:nvSpPr>
          <p:cNvPr id="14" name="Text 12"/>
          <p:cNvSpPr txBox="1"/>
          <p:nvPr/>
        </p:nvSpPr>
        <p:spPr>
          <a:xfrm>
            <a:off x="4937760" y="5669280"/>
            <a:ext cx="3657600" cy="100584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97.4%</a:t>
            </a:r>
            <a:endParaRPr lang="en-US" sz="5200" dirty="0"/>
          </a:p>
        </p:txBody>
      </p:sp>
      <p:sp>
        <p:nvSpPr>
          <p:cNvPr id="15" name="Text 13"/>
          <p:cNvSpPr txBox="1"/>
          <p:nvPr/>
        </p:nvSpPr>
        <p:spPr>
          <a:xfrm>
            <a:off x="4937760" y="6675120"/>
            <a:ext cx="3657600" cy="457200"/>
          </a:xfrm>
          <a:prstGeom prst="rect">
            <a:avLst/>
          </a:prstGeom>
          <a:noFill/>
          <a:ln/>
        </p:spPr>
        <p:txBody>
          <a:bodyPr wrap="square" lIns="0" tIns="0" rIns="0" bIns="0" rtlCol="0" anchor="t"/>
          <a:lstStyle/>
          <a:p>
            <a:pPr indent="0" marL="0">
              <a:buNone/>
            </a:pPr>
            <a:r>
              <a:rPr lang="en-US" sz="1800" b="1" dirty="0">
                <a:solidFill>
                  <a:schemeClr val="tx1"/>
                </a:solidFill>
              </a:rPr>
              <a:t>Detection Coverage</a:t>
            </a:r>
            <a:endParaRPr lang="en-US" sz="1800" dirty="0"/>
          </a:p>
        </p:txBody>
      </p:sp>
      <p:sp>
        <p:nvSpPr>
          <p:cNvPr id="16" name="Text 14"/>
          <p:cNvSpPr txBox="1"/>
          <p:nvPr/>
        </p:nvSpPr>
        <p:spPr>
          <a:xfrm>
            <a:off x="1097280" y="7772400"/>
            <a:ext cx="7498080" cy="1280160"/>
          </a:xfrm>
          <a:prstGeom prst="rect">
            <a:avLst/>
          </a:prstGeom>
          <a:noFill/>
          <a:ln/>
        </p:spPr>
        <p:txBody>
          <a:bodyPr wrap="square" lIns="0" tIns="0" rIns="0" bIns="0" rtlCol="0" anchor="t"/>
          <a:lstStyle/>
          <a:p>
            <a:pPr indent="0" marL="0">
              <a:buNone/>
            </a:pPr>
            <a:r>
              <a:rPr lang="en-US" sz="2200" dirty="0">
                <a:solidFill>
                  <a:schemeClr val="accent4"/>
                </a:solidFill>
              </a:rPr>
              <a:t>Zero cross-boundary leakage across all test runs.</a:t>
            </a:r>
            <a:endParaRPr lang="en-US" sz="2200" dirty="0"/>
          </a:p>
        </p:txBody>
      </p:sp>
      <p:sp>
        <p:nvSpPr>
          <p:cNvPr id="17" name="Card BLUE TEAM CYCLE"/>
          <p:cNvSpPr/>
          <p:nvPr/>
        </p:nvSpPr>
        <p:spPr>
          <a:xfrm>
            <a:off x="9326880" y="2697480"/>
            <a:ext cx="8229600" cy="6583680"/>
          </a:xfrm>
          <a:prstGeom prst="roundRect">
            <a:avLst>
              <a:gd name="adj" fmla="val 2083"/>
            </a:avLst>
          </a:prstGeom>
          <a:solidFill>
            <a:schemeClr val="bg2"/>
          </a:solidFill>
          <a:ln w="12700">
            <a:solidFill>
              <a:schemeClr val="accent1"/>
            </a:solidFill>
            <a:prstDash val="solid"/>
          </a:ln>
        </p:spPr>
      </p:sp>
      <p:sp>
        <p:nvSpPr>
          <p:cNvPr id="18" name="Text 16"/>
          <p:cNvSpPr txBox="1"/>
          <p:nvPr/>
        </p:nvSpPr>
        <p:spPr>
          <a:xfrm>
            <a:off x="9692640" y="2926080"/>
            <a:ext cx="7498080" cy="548640"/>
          </a:xfrm>
          <a:prstGeom prst="rect">
            <a:avLst/>
          </a:prstGeom>
          <a:noFill/>
          <a:ln/>
        </p:spPr>
        <p:txBody>
          <a:bodyPr wrap="square" lIns="0" tIns="0" rIns="0" bIns="0" rtlCol="0" anchor="ctr"/>
          <a:lstStyle/>
          <a:p>
            <a:pPr indent="0" marL="0">
              <a:buNone/>
            </a:pPr>
            <a:r>
              <a:rPr lang="en-US" sz="2400" b="1" dirty="0">
                <a:solidFill>
                  <a:schemeClr val="tx1"/>
                </a:solidFill>
              </a:rPr>
              <a:t>BLUE TEAM CYCLE</a:t>
            </a:r>
            <a:endParaRPr lang="en-US" sz="2400" dirty="0"/>
          </a:p>
        </p:txBody>
      </p:sp>
      <p:sp>
        <p:nvSpPr>
          <p:cNvPr id="19" name="Step"/>
          <p:cNvSpPr txBox="1"/>
          <p:nvPr/>
        </p:nvSpPr>
        <p:spPr>
          <a:xfrm>
            <a:off x="969264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Defense patch proposed</a:t>
            </a:r>
            <a:endParaRPr lang="en-US" sz="1600" dirty="0"/>
          </a:p>
        </p:txBody>
      </p:sp>
      <p:sp>
        <p:nvSpPr>
          <p:cNvPr id="20" name="Text 18"/>
          <p:cNvSpPr txBox="1"/>
          <p:nvPr/>
        </p:nvSpPr>
        <p:spPr>
          <a:xfrm>
            <a:off x="1143000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1" name="Step"/>
          <p:cNvSpPr txBox="1"/>
          <p:nvPr/>
        </p:nvSpPr>
        <p:spPr>
          <a:xfrm>
            <a:off x="1161288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Gateway policy validation</a:t>
            </a:r>
            <a:endParaRPr lang="en-US" sz="1600" dirty="0"/>
          </a:p>
        </p:txBody>
      </p:sp>
      <p:sp>
        <p:nvSpPr>
          <p:cNvPr id="22" name="Text 20"/>
          <p:cNvSpPr txBox="1"/>
          <p:nvPr/>
        </p:nvSpPr>
        <p:spPr>
          <a:xfrm>
            <a:off x="1335024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3" name="Step"/>
          <p:cNvSpPr txBox="1"/>
          <p:nvPr/>
        </p:nvSpPr>
        <p:spPr>
          <a:xfrm>
            <a:off x="1353312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Isolated re-evaluation</a:t>
            </a:r>
            <a:endParaRPr lang="en-US" sz="1600" dirty="0"/>
          </a:p>
        </p:txBody>
      </p:sp>
      <p:sp>
        <p:nvSpPr>
          <p:cNvPr id="24" name="Text 22"/>
          <p:cNvSpPr txBox="1"/>
          <p:nvPr/>
        </p:nvSpPr>
        <p:spPr>
          <a:xfrm>
            <a:off x="15270480" y="4343400"/>
            <a:ext cx="182880" cy="365760"/>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5" name="Step"/>
          <p:cNvSpPr txBox="1"/>
          <p:nvPr/>
        </p:nvSpPr>
        <p:spPr>
          <a:xfrm>
            <a:off x="15453360" y="3749040"/>
            <a:ext cx="1737360" cy="1554480"/>
          </a:xfrm>
          <a:prstGeom prst="roundRect">
            <a:avLst>
              <a:gd name="adj" fmla="val 7059"/>
            </a:avLst>
          </a:prstGeom>
          <a:solidFill>
            <a:schemeClr val="bg1"/>
          </a:solidFill>
          <a:ln w="12700">
            <a:solidFill>
              <a:schemeClr val="accent2"/>
            </a:solidFill>
          </a:ln>
        </p:spPr>
        <p:txBody>
          <a:bodyPr wrap="square" lIns="1016" tIns="1016" rIns="1016" bIns="1016" rtlCol="0" anchor="ctr"/>
          <a:lstStyle/>
          <a:p>
            <a:pPr algn="ctr" indent="0" marL="0">
              <a:buNone/>
            </a:pPr>
            <a:r>
              <a:rPr lang="en-US" sz="1600" b="1" dirty="0">
                <a:solidFill>
                  <a:schemeClr val="tx1"/>
                </a:solidFill>
              </a:rPr>
              <a:t>Integrity score updated</a:t>
            </a:r>
            <a:endParaRPr lang="en-US" sz="1600" dirty="0"/>
          </a:p>
        </p:txBody>
      </p:sp>
      <p:sp>
        <p:nvSpPr>
          <p:cNvPr id="26" name="Text 24"/>
          <p:cNvSpPr txBox="1"/>
          <p:nvPr/>
        </p:nvSpPr>
        <p:spPr>
          <a:xfrm>
            <a:off x="9692640" y="5669280"/>
            <a:ext cx="3657600" cy="100584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99.1%</a:t>
            </a:r>
            <a:endParaRPr lang="en-US" sz="5200" dirty="0"/>
          </a:p>
        </p:txBody>
      </p:sp>
      <p:sp>
        <p:nvSpPr>
          <p:cNvPr id="27" name="Text 25"/>
          <p:cNvSpPr txBox="1"/>
          <p:nvPr/>
        </p:nvSpPr>
        <p:spPr>
          <a:xfrm>
            <a:off x="9692640" y="6675120"/>
            <a:ext cx="3657600" cy="457200"/>
          </a:xfrm>
          <a:prstGeom prst="rect">
            <a:avLst/>
          </a:prstGeom>
          <a:noFill/>
          <a:ln/>
        </p:spPr>
        <p:txBody>
          <a:bodyPr wrap="square" lIns="0" tIns="0" rIns="0" bIns="0" rtlCol="0" anchor="t"/>
          <a:lstStyle/>
          <a:p>
            <a:pPr indent="0" marL="0">
              <a:buNone/>
            </a:pPr>
            <a:r>
              <a:rPr lang="en-US" sz="1800" b="1" dirty="0">
                <a:solidFill>
                  <a:schemeClr val="tx1"/>
                </a:solidFill>
              </a:rPr>
              <a:t>Evaluation Integrity</a:t>
            </a:r>
            <a:endParaRPr lang="en-US" sz="1800" dirty="0"/>
          </a:p>
        </p:txBody>
      </p:sp>
      <p:sp>
        <p:nvSpPr>
          <p:cNvPr id="28" name="Text 26"/>
          <p:cNvSpPr txBox="1"/>
          <p:nvPr/>
        </p:nvSpPr>
        <p:spPr>
          <a:xfrm>
            <a:off x="13533120" y="5669280"/>
            <a:ext cx="3657600" cy="100584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&lt;2.3s</a:t>
            </a:r>
            <a:endParaRPr lang="en-US" sz="5200" dirty="0"/>
          </a:p>
        </p:txBody>
      </p:sp>
      <p:sp>
        <p:nvSpPr>
          <p:cNvPr id="29" name="Text 27"/>
          <p:cNvSpPr txBox="1"/>
          <p:nvPr/>
        </p:nvSpPr>
        <p:spPr>
          <a:xfrm>
            <a:off x="13533120" y="6675120"/>
            <a:ext cx="3657600" cy="457200"/>
          </a:xfrm>
          <a:prstGeom prst="rect">
            <a:avLst/>
          </a:prstGeom>
          <a:noFill/>
          <a:ln/>
        </p:spPr>
        <p:txBody>
          <a:bodyPr wrap="square" lIns="0" tIns="0" rIns="0" bIns="0" rtlCol="0" anchor="t"/>
          <a:lstStyle/>
          <a:p>
            <a:pPr indent="0" marL="0">
              <a:buNone/>
            </a:pPr>
            <a:r>
              <a:rPr lang="en-US" sz="1800" b="1" dirty="0">
                <a:solidFill>
                  <a:schemeClr val="tx1"/>
                </a:solidFill>
              </a:rPr>
              <a:t>Iteration Speed (avg)</a:t>
            </a:r>
            <a:endParaRPr lang="en-US" sz="1800" dirty="0"/>
          </a:p>
        </p:txBody>
      </p:sp>
      <p:sp>
        <p:nvSpPr>
          <p:cNvPr id="30" name="Text 28"/>
          <p:cNvSpPr txBox="1"/>
          <p:nvPr/>
        </p:nvSpPr>
        <p:spPr>
          <a:xfrm>
            <a:off x="9692640" y="7772400"/>
            <a:ext cx="7498080" cy="1280160"/>
          </a:xfrm>
          <a:prstGeom prst="rect">
            <a:avLst/>
          </a:prstGeom>
          <a:noFill/>
          <a:ln/>
        </p:spPr>
        <p:txBody>
          <a:bodyPr wrap="square" lIns="0" tIns="0" rIns="0" bIns="0" rtlCol="0" anchor="t"/>
          <a:lstStyle/>
          <a:p>
            <a:pPr indent="0" marL="0">
              <a:buNone/>
            </a:pPr>
            <a:r>
              <a:rPr lang="en-US" sz="2200" dirty="0">
                <a:solidFill>
                  <a:schemeClr val="accent4"/>
                </a:solidFill>
              </a:rPr>
              <a:t>Rapid hardening loops without compromising isolation boundaries.</a:t>
            </a:r>
            <a:endParaRPr lang="en-US" sz="22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OPERATIONAL OUTCOMES</a:t>
            </a:r>
            <a:endParaRPr lang="en-US" sz="4000" dirty="0"/>
          </a:p>
        </p:txBody>
      </p:sp>
      <p:sp>
        <p:nvSpPr>
          <p:cNvPr id="3" name="Text 1"/>
          <p:cNvSpPr txBox="1"/>
          <p:nvPr/>
        </p:nvSpPr>
        <p:spPr>
          <a:xfrm>
            <a:off x="731520" y="2651760"/>
            <a:ext cx="16824960" cy="457200"/>
          </a:xfrm>
          <a:prstGeom prst="rect">
            <a:avLst/>
          </a:prstGeom>
          <a:noFill/>
          <a:ln/>
        </p:spPr>
        <p:txBody>
          <a:bodyPr wrap="square" lIns="0" tIns="0" rIns="0" bIns="0" rtlCol="0" anchor="t"/>
          <a:lstStyle/>
          <a:p>
            <a:pPr indent="0" marL="0">
              <a:buNone/>
            </a:pPr>
            <a:r>
              <a:rPr lang="en-US" sz="2200" b="1" dirty="0">
                <a:solidFill>
                  <a:schemeClr val="accent1"/>
                </a:solidFill>
              </a:rPr>
              <a:t>IMPACT &amp; SCALABILITY</a:t>
            </a:r>
            <a:endParaRPr lang="en-US" sz="2200" dirty="0"/>
          </a:p>
        </p:txBody>
      </p:sp>
      <p:sp>
        <p:nvSpPr>
          <p:cNvPr id="4" name="Stat card 1"/>
          <p:cNvSpPr/>
          <p:nvPr/>
        </p:nvSpPr>
        <p:spPr>
          <a:xfrm>
            <a:off x="731520" y="3337560"/>
            <a:ext cx="6949440" cy="2743200"/>
          </a:xfrm>
          <a:prstGeom prst="roundRect">
            <a:avLst>
              <a:gd name="adj" fmla="val 5000"/>
            </a:avLst>
          </a:prstGeom>
          <a:solidFill>
            <a:schemeClr val="bg2"/>
          </a:solidFill>
          <a:ln w="12700">
            <a:solidFill>
              <a:schemeClr val="accent1"/>
            </a:solidFill>
            <a:prstDash val="solid"/>
          </a:ln>
        </p:spPr>
      </p:sp>
      <p:sp>
        <p:nvSpPr>
          <p:cNvPr id="5" name="Text 3"/>
          <p:cNvSpPr txBox="1"/>
          <p:nvPr/>
        </p:nvSpPr>
        <p:spPr>
          <a:xfrm>
            <a:off x="1097280" y="3566160"/>
            <a:ext cx="6217920" cy="1371600"/>
          </a:xfrm>
          <a:prstGeom prst="rect">
            <a:avLst/>
          </a:prstGeom>
          <a:noFill/>
          <a:ln/>
        </p:spPr>
        <p:txBody>
          <a:bodyPr wrap="square" lIns="0" tIns="0" rIns="0" bIns="0" rtlCol="0" anchor="ctr"/>
          <a:lstStyle/>
          <a:p>
            <a:pPr indent="0" marL="0">
              <a:buNone/>
            </a:pPr>
            <a:r>
              <a:rPr lang="en-US" sz="8000" b="1" dirty="0">
                <a:solidFill>
                  <a:schemeClr val="accent1"/>
                </a:solidFill>
                <a:latin typeface="+mj-lt" pitchFamily="34" charset="0"/>
                <a:ea typeface="+mj-lt" pitchFamily="34" charset="-122"/>
                <a:cs typeface="+mj-lt" pitchFamily="34" charset="-120"/>
              </a:rPr>
              <a:t>94%</a:t>
            </a:r>
            <a:endParaRPr lang="en-US" sz="8000" dirty="0"/>
          </a:p>
        </p:txBody>
      </p:sp>
      <p:sp>
        <p:nvSpPr>
          <p:cNvPr id="6" name="Text 4"/>
          <p:cNvSpPr txBox="1"/>
          <p:nvPr/>
        </p:nvSpPr>
        <p:spPr>
          <a:xfrm>
            <a:off x="1097280" y="5029200"/>
            <a:ext cx="6217920" cy="868680"/>
          </a:xfrm>
          <a:prstGeom prst="rect">
            <a:avLst/>
          </a:prstGeom>
          <a:noFill/>
          <a:ln/>
        </p:spPr>
        <p:txBody>
          <a:bodyPr wrap="square" lIns="0" tIns="0" rIns="0" bIns="0" rtlCol="0" anchor="t"/>
          <a:lstStyle/>
          <a:p>
            <a:pPr indent="0" marL="0">
              <a:buNone/>
            </a:pPr>
            <a:r>
              <a:rPr lang="en-US" sz="1800" b="1" dirty="0">
                <a:solidFill>
                  <a:schemeClr val="tx1"/>
                </a:solidFill>
              </a:rPr>
              <a:t>Blast radius reduced through zero-trust micro-segmentation</a:t>
            </a:r>
            <a:endParaRPr lang="en-US" sz="1800" dirty="0"/>
          </a:p>
        </p:txBody>
      </p:sp>
      <p:sp>
        <p:nvSpPr>
          <p:cNvPr id="7" name="Stat card 2"/>
          <p:cNvSpPr/>
          <p:nvPr/>
        </p:nvSpPr>
        <p:spPr>
          <a:xfrm>
            <a:off x="731520" y="6355080"/>
            <a:ext cx="6949440" cy="2743200"/>
          </a:xfrm>
          <a:prstGeom prst="roundRect">
            <a:avLst>
              <a:gd name="adj" fmla="val 5000"/>
            </a:avLst>
          </a:prstGeom>
          <a:solidFill>
            <a:schemeClr val="bg2"/>
          </a:solidFill>
          <a:ln w="12700">
            <a:solidFill>
              <a:schemeClr val="accent1"/>
            </a:solidFill>
            <a:prstDash val="solid"/>
          </a:ln>
        </p:spPr>
      </p:sp>
      <p:sp>
        <p:nvSpPr>
          <p:cNvPr id="8" name="Text 6"/>
          <p:cNvSpPr txBox="1"/>
          <p:nvPr/>
        </p:nvSpPr>
        <p:spPr>
          <a:xfrm>
            <a:off x="1097280" y="6583680"/>
            <a:ext cx="6217920" cy="1371600"/>
          </a:xfrm>
          <a:prstGeom prst="rect">
            <a:avLst/>
          </a:prstGeom>
          <a:noFill/>
          <a:ln/>
        </p:spPr>
        <p:txBody>
          <a:bodyPr wrap="square" lIns="0" tIns="0" rIns="0" bIns="0" rtlCol="0" anchor="ctr"/>
          <a:lstStyle/>
          <a:p>
            <a:pPr indent="0" marL="0">
              <a:buNone/>
            </a:pPr>
            <a:r>
              <a:rPr lang="en-US" sz="8000" b="1" dirty="0">
                <a:solidFill>
                  <a:schemeClr val="accent1"/>
                </a:solidFill>
                <a:latin typeface="+mj-lt" pitchFamily="34" charset="0"/>
                <a:ea typeface="+mj-lt" pitchFamily="34" charset="-122"/>
                <a:cs typeface="+mj-lt" pitchFamily="34" charset="-120"/>
              </a:rPr>
              <a:t>60%</a:t>
            </a:r>
            <a:endParaRPr lang="en-US" sz="8000" dirty="0"/>
          </a:p>
        </p:txBody>
      </p:sp>
      <p:sp>
        <p:nvSpPr>
          <p:cNvPr id="9" name="Text 7"/>
          <p:cNvSpPr txBox="1"/>
          <p:nvPr/>
        </p:nvSpPr>
        <p:spPr>
          <a:xfrm>
            <a:off x="1097280" y="8046720"/>
            <a:ext cx="6217920" cy="868680"/>
          </a:xfrm>
          <a:prstGeom prst="rect">
            <a:avLst/>
          </a:prstGeom>
          <a:noFill/>
          <a:ln/>
        </p:spPr>
        <p:txBody>
          <a:bodyPr wrap="square" lIns="0" tIns="0" rIns="0" bIns="0" rtlCol="0" anchor="t"/>
          <a:lstStyle/>
          <a:p>
            <a:pPr indent="0" marL="0">
              <a:buNone/>
            </a:pPr>
            <a:r>
              <a:rPr lang="en-US" sz="1800" b="1" dirty="0">
                <a:solidFill>
                  <a:schemeClr val="tx1"/>
                </a:solidFill>
              </a:rPr>
              <a:t>Onboarding time cut by reusable policy templates</a:t>
            </a:r>
            <a:endParaRPr lang="en-US" sz="1800" dirty="0"/>
          </a:p>
        </p:txBody>
      </p:sp>
      <p:sp>
        <p:nvSpPr>
          <p:cNvPr id="10" name="Outcome 1"/>
          <p:cNvSpPr/>
          <p:nvPr/>
        </p:nvSpPr>
        <p:spPr>
          <a:xfrm>
            <a:off x="8046720" y="3337560"/>
            <a:ext cx="9509760" cy="1828800"/>
          </a:xfrm>
          <a:prstGeom prst="roundRect">
            <a:avLst>
              <a:gd name="adj" fmla="val 7500"/>
            </a:avLst>
          </a:prstGeom>
          <a:solidFill>
            <a:schemeClr val="bg2"/>
          </a:solidFill>
          <a:ln w="12700">
            <a:solidFill>
              <a:schemeClr val="accent1"/>
            </a:solidFill>
            <a:prstDash val="solid"/>
          </a:ln>
        </p:spPr>
      </p:sp>
      <p:sp>
        <p:nvSpPr>
          <p:cNvPr id="11" name="Badge"/>
          <p:cNvSpPr txBox="1"/>
          <p:nvPr/>
        </p:nvSpPr>
        <p:spPr>
          <a:xfrm>
            <a:off x="8412480" y="39319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2" name="Text 10"/>
          <p:cNvSpPr txBox="1"/>
          <p:nvPr/>
        </p:nvSpPr>
        <p:spPr>
          <a:xfrm>
            <a:off x="9326880" y="3520440"/>
            <a:ext cx="7955280" cy="1463040"/>
          </a:xfrm>
          <a:prstGeom prst="rect">
            <a:avLst/>
          </a:prstGeom>
          <a:noFill/>
          <a:ln/>
        </p:spPr>
        <p:txBody>
          <a:bodyPr wrap="square" lIns="0" tIns="0" rIns="0" bIns="0" rtlCol="0" anchor="ctr"/>
          <a:lstStyle/>
          <a:p>
            <a:pPr indent="0" marL="0">
              <a:buNone/>
            </a:pPr>
            <a:r>
              <a:rPr lang="en-US" sz="2200" b="1" dirty="0">
                <a:solidFill>
                  <a:schemeClr val="tx1"/>
                </a:solidFill>
              </a:rPr>
              <a:t>Parallel testing, zero contamination</a:t>
            </a:r>
            <a:endParaRPr lang="en-US" sz="2200" dirty="0"/>
          </a:p>
          <a:p>
            <a:pPr indent="0" marL="0">
              <a:buNone/>
            </a:pPr>
            <a:r>
              <a:rPr lang="en-US" sz="1800" dirty="0">
                <a:solidFill>
                  <a:schemeClr val="tx1"/>
                </a:solidFill>
              </a:rPr>
              <a:t>Secure parallel testing environments eliminate cross-team contamination.</a:t>
            </a:r>
            <a:endParaRPr lang="en-US" sz="2200" dirty="0"/>
          </a:p>
        </p:txBody>
      </p:sp>
      <p:sp>
        <p:nvSpPr>
          <p:cNvPr id="13" name="Outcome 2"/>
          <p:cNvSpPr/>
          <p:nvPr/>
        </p:nvSpPr>
        <p:spPr>
          <a:xfrm>
            <a:off x="8046720" y="5349240"/>
            <a:ext cx="9509760" cy="1828800"/>
          </a:xfrm>
          <a:prstGeom prst="roundRect">
            <a:avLst>
              <a:gd name="adj" fmla="val 7500"/>
            </a:avLst>
          </a:prstGeom>
          <a:solidFill>
            <a:schemeClr val="bg2"/>
          </a:solidFill>
          <a:ln w="12700">
            <a:solidFill>
              <a:schemeClr val="accent1"/>
            </a:solidFill>
            <a:prstDash val="solid"/>
          </a:ln>
        </p:spPr>
      </p:sp>
      <p:sp>
        <p:nvSpPr>
          <p:cNvPr id="14" name="Badge"/>
          <p:cNvSpPr txBox="1"/>
          <p:nvPr/>
        </p:nvSpPr>
        <p:spPr>
          <a:xfrm>
            <a:off x="8412480" y="594360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5" name="Text 13"/>
          <p:cNvSpPr txBox="1"/>
          <p:nvPr/>
        </p:nvSpPr>
        <p:spPr>
          <a:xfrm>
            <a:off x="9326880" y="5532120"/>
            <a:ext cx="7955280" cy="1463040"/>
          </a:xfrm>
          <a:prstGeom prst="rect">
            <a:avLst/>
          </a:prstGeom>
          <a:noFill/>
          <a:ln/>
        </p:spPr>
        <p:txBody>
          <a:bodyPr wrap="square" lIns="0" tIns="0" rIns="0" bIns="0" rtlCol="0" anchor="ctr"/>
          <a:lstStyle/>
          <a:p>
            <a:pPr indent="0" marL="0">
              <a:buNone/>
            </a:pPr>
            <a:r>
              <a:rPr lang="en-US" sz="2200" b="1" dirty="0">
                <a:solidFill>
                  <a:schemeClr val="tx1"/>
                </a:solidFill>
              </a:rPr>
              <a:t>Reproducible and compliant</a:t>
            </a:r>
            <a:endParaRPr lang="en-US" sz="2200" dirty="0"/>
          </a:p>
          <a:p>
            <a:pPr indent="0" marL="0">
              <a:buNone/>
            </a:pPr>
            <a:r>
              <a:rPr lang="en-US" sz="1800" dirty="0">
                <a:solidFill>
                  <a:schemeClr val="tx1"/>
                </a:solidFill>
              </a:rPr>
              <a:t>Full audit trails ensure every adversarial experiment is reproducible and compliant.</a:t>
            </a:r>
            <a:endParaRPr lang="en-US" sz="2200" dirty="0"/>
          </a:p>
        </p:txBody>
      </p:sp>
      <p:sp>
        <p:nvSpPr>
          <p:cNvPr id="16" name="Outcome 3"/>
          <p:cNvSpPr/>
          <p:nvPr/>
        </p:nvSpPr>
        <p:spPr>
          <a:xfrm>
            <a:off x="8046720" y="7360920"/>
            <a:ext cx="9509760" cy="1828800"/>
          </a:xfrm>
          <a:prstGeom prst="roundRect">
            <a:avLst>
              <a:gd name="adj" fmla="val 7500"/>
            </a:avLst>
          </a:prstGeom>
          <a:solidFill>
            <a:schemeClr val="bg2"/>
          </a:solidFill>
          <a:ln w="12700">
            <a:solidFill>
              <a:schemeClr val="accent1"/>
            </a:solidFill>
            <a:prstDash val="solid"/>
          </a:ln>
        </p:spPr>
      </p:sp>
      <p:sp>
        <p:nvSpPr>
          <p:cNvPr id="17" name="Badge"/>
          <p:cNvSpPr txBox="1"/>
          <p:nvPr/>
        </p:nvSpPr>
        <p:spPr>
          <a:xfrm>
            <a:off x="8412480" y="795528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9326880" y="7543800"/>
            <a:ext cx="7955280" cy="1463040"/>
          </a:xfrm>
          <a:prstGeom prst="rect">
            <a:avLst/>
          </a:prstGeom>
          <a:noFill/>
          <a:ln/>
        </p:spPr>
        <p:txBody>
          <a:bodyPr wrap="square" lIns="0" tIns="0" rIns="0" bIns="0" rtlCol="0" anchor="ctr"/>
          <a:lstStyle/>
          <a:p>
            <a:pPr indent="0" marL="0">
              <a:buNone/>
            </a:pPr>
            <a:r>
              <a:rPr lang="en-US" sz="2200" b="1" dirty="0">
                <a:solidFill>
                  <a:schemeClr val="tx1"/>
                </a:solidFill>
              </a:rPr>
              <a:t>Governance that scales</a:t>
            </a:r>
            <a:endParaRPr lang="en-US" sz="2200" dirty="0"/>
          </a:p>
          <a:p>
            <a:pPr indent="0" marL="0">
              <a:buNone/>
            </a:pPr>
            <a:r>
              <a:rPr lang="en-US" sz="1800" dirty="0">
                <a:solidFill>
                  <a:schemeClr val="tx1"/>
                </a:solidFill>
              </a:rPr>
              <a:t>Governance scales seamlessly across new models, red teams, and enterprise deployments — without compromising isolation or control.</a:t>
            </a:r>
            <a:endParaRPr lang="en-US" sz="22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731520" y="1463040"/>
            <a:ext cx="16824960" cy="96012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IMPLEMENTATION ROADMAP</a:t>
            </a:r>
            <a:endParaRPr lang="en-US" sz="4000" dirty="0"/>
          </a:p>
        </p:txBody>
      </p:sp>
      <p:sp>
        <p:nvSpPr>
          <p:cNvPr id="3" name="Roadmap line"/>
          <p:cNvSpPr/>
          <p:nvPr/>
        </p:nvSpPr>
        <p:spPr>
          <a:xfrm>
            <a:off x="731520" y="3108960"/>
            <a:ext cx="16824960" cy="0"/>
          </a:xfrm>
          <a:prstGeom prst="line">
            <a:avLst/>
          </a:prstGeom>
          <a:noFill/>
          <a:ln w="25400">
            <a:solidFill>
              <a:schemeClr val="accent1"/>
            </a:solidFill>
            <a:prstDash val="solid"/>
            <a:tailEnd type="triangle"/>
          </a:ln>
        </p:spPr>
      </p:sp>
      <p:sp>
        <p:nvSpPr>
          <p:cNvPr id="4" name="Badge"/>
          <p:cNvSpPr txBox="1"/>
          <p:nvPr/>
        </p:nvSpPr>
        <p:spPr>
          <a:xfrm>
            <a:off x="731520" y="27889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ard PHASE 1"/>
          <p:cNvSpPr/>
          <p:nvPr/>
        </p:nvSpPr>
        <p:spPr>
          <a:xfrm>
            <a:off x="731520" y="3840480"/>
            <a:ext cx="5394960" cy="5440680"/>
          </a:xfrm>
          <a:prstGeom prst="roundRect">
            <a:avLst>
              <a:gd name="adj" fmla="val 2542"/>
            </a:avLst>
          </a:prstGeom>
          <a:solidFill>
            <a:schemeClr val="bg2"/>
          </a:solidFill>
          <a:ln w="12700">
            <a:solidFill>
              <a:schemeClr val="accent1"/>
            </a:solidFill>
            <a:prstDash val="solid"/>
          </a:ln>
        </p:spPr>
      </p:sp>
      <p:sp>
        <p:nvSpPr>
          <p:cNvPr id="6" name="Text 4"/>
          <p:cNvSpPr txBox="1"/>
          <p:nvPr/>
        </p:nvSpPr>
        <p:spPr>
          <a:xfrm>
            <a:off x="1051560" y="4114800"/>
            <a:ext cx="4754880" cy="457200"/>
          </a:xfrm>
          <a:prstGeom prst="rect">
            <a:avLst/>
          </a:prstGeom>
          <a:noFill/>
          <a:ln/>
        </p:spPr>
        <p:txBody>
          <a:bodyPr wrap="square" lIns="0" tIns="0" rIns="0" bIns="0" rtlCol="0" anchor="t"/>
          <a:lstStyle/>
          <a:p>
            <a:pPr indent="0" marL="0">
              <a:buNone/>
            </a:pPr>
            <a:r>
              <a:rPr lang="en-US" sz="2000" b="1" dirty="0">
                <a:solidFill>
                  <a:schemeClr val="accent2"/>
                </a:solidFill>
              </a:rPr>
              <a:t>PHASE 1</a:t>
            </a:r>
            <a:endParaRPr lang="en-US" sz="2000" dirty="0"/>
          </a:p>
        </p:txBody>
      </p:sp>
      <p:sp>
        <p:nvSpPr>
          <p:cNvPr id="7" name="Text 5"/>
          <p:cNvSpPr txBox="1"/>
          <p:nvPr/>
        </p:nvSpPr>
        <p:spPr>
          <a:xfrm>
            <a:off x="1051560" y="4617720"/>
            <a:ext cx="4754880" cy="1005840"/>
          </a:xfrm>
          <a:prstGeom prst="rect">
            <a:avLst/>
          </a:prstGeom>
          <a:noFill/>
          <a:ln/>
        </p:spPr>
        <p:txBody>
          <a:bodyPr wrap="square" lIns="0" tIns="0" rIns="0" bIns="0" rtlCol="0" anchor="t"/>
          <a:lstStyle/>
          <a:p>
            <a:pPr indent="0" marL="0">
              <a:buNone/>
            </a:pPr>
            <a:r>
              <a:rPr lang="en-US" sz="2200" b="1" dirty="0">
                <a:solidFill>
                  <a:schemeClr val="tx1"/>
                </a:solidFill>
              </a:rPr>
              <a:t>Isolated Sandbox &amp; Gateway MVP</a:t>
            </a:r>
            <a:endParaRPr lang="en-US" sz="2200" dirty="0"/>
          </a:p>
        </p:txBody>
      </p:sp>
      <p:sp>
        <p:nvSpPr>
          <p:cNvPr id="8" name="Text 6"/>
          <p:cNvSpPr txBox="1"/>
          <p:nvPr/>
        </p:nvSpPr>
        <p:spPr>
          <a:xfrm>
            <a:off x="1051560" y="5760720"/>
            <a:ext cx="4754880" cy="3383280"/>
          </a:xfrm>
          <a:prstGeom prst="rect">
            <a:avLst/>
          </a:prstGeom>
          <a:noFill/>
          <a:ln/>
        </p:spPr>
        <p:txBody>
          <a:bodyPr wrap="square" lIns="0" tIns="0" rIns="0" bIns="0" rtlCol="0" anchor="t"/>
          <a:lstStyle/>
          <a:p>
            <a:pPr indent="0" marL="0">
              <a:lnSpc>
                <a:spcPct val="120000"/>
              </a:lnSpc>
              <a:buNone/>
            </a:pPr>
            <a:r>
              <a:rPr lang="en-US" sz="1900" dirty="0">
                <a:solidFill>
                  <a:schemeClr val="tx1"/>
                </a:solidFill>
              </a:rPr>
              <a:t>Deploy core zero-trust sandbox environment. Establish Policy Gateway with basic allow/deny rules. Spin up Red Team and Blue Team isolated containers. Validate boundary enforcement between attack and defense zones.</a:t>
            </a:r>
            <a:endParaRPr lang="en-US" sz="1900" dirty="0"/>
          </a:p>
        </p:txBody>
      </p:sp>
      <p:sp>
        <p:nvSpPr>
          <p:cNvPr id="9" name="Badge"/>
          <p:cNvSpPr txBox="1"/>
          <p:nvPr/>
        </p:nvSpPr>
        <p:spPr>
          <a:xfrm>
            <a:off x="6446520" y="27889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Card PHASE 2"/>
          <p:cNvSpPr/>
          <p:nvPr/>
        </p:nvSpPr>
        <p:spPr>
          <a:xfrm>
            <a:off x="6446520" y="3840480"/>
            <a:ext cx="5394960" cy="5440680"/>
          </a:xfrm>
          <a:prstGeom prst="roundRect">
            <a:avLst>
              <a:gd name="adj" fmla="val 2542"/>
            </a:avLst>
          </a:prstGeom>
          <a:solidFill>
            <a:schemeClr val="bg2"/>
          </a:solidFill>
          <a:ln w="12700">
            <a:solidFill>
              <a:schemeClr val="accent1"/>
            </a:solidFill>
            <a:prstDash val="solid"/>
          </a:ln>
        </p:spPr>
      </p:sp>
      <p:sp>
        <p:nvSpPr>
          <p:cNvPr id="11" name="Text 9"/>
          <p:cNvSpPr txBox="1"/>
          <p:nvPr/>
        </p:nvSpPr>
        <p:spPr>
          <a:xfrm>
            <a:off x="6766560" y="4114800"/>
            <a:ext cx="4754880" cy="457200"/>
          </a:xfrm>
          <a:prstGeom prst="rect">
            <a:avLst/>
          </a:prstGeom>
          <a:noFill/>
          <a:ln/>
        </p:spPr>
        <p:txBody>
          <a:bodyPr wrap="square" lIns="0" tIns="0" rIns="0" bIns="0" rtlCol="0" anchor="t"/>
          <a:lstStyle/>
          <a:p>
            <a:pPr indent="0" marL="0">
              <a:buNone/>
            </a:pPr>
            <a:r>
              <a:rPr lang="en-US" sz="2000" b="1" dirty="0">
                <a:solidFill>
                  <a:schemeClr val="accent2"/>
                </a:solidFill>
              </a:rPr>
              <a:t>PHASE 2</a:t>
            </a:r>
            <a:endParaRPr lang="en-US" sz="2000" dirty="0"/>
          </a:p>
        </p:txBody>
      </p:sp>
      <p:sp>
        <p:nvSpPr>
          <p:cNvPr id="12" name="Text 10"/>
          <p:cNvSpPr txBox="1"/>
          <p:nvPr/>
        </p:nvSpPr>
        <p:spPr>
          <a:xfrm>
            <a:off x="6766560" y="4617720"/>
            <a:ext cx="4754880" cy="1005840"/>
          </a:xfrm>
          <a:prstGeom prst="rect">
            <a:avLst/>
          </a:prstGeom>
          <a:noFill/>
          <a:ln/>
        </p:spPr>
        <p:txBody>
          <a:bodyPr wrap="square" lIns="0" tIns="0" rIns="0" bIns="0" rtlCol="0" anchor="t"/>
          <a:lstStyle/>
          <a:p>
            <a:pPr indent="0" marL="0">
              <a:buNone/>
            </a:pPr>
            <a:r>
              <a:rPr lang="en-US" sz="2200" b="1" dirty="0">
                <a:solidFill>
                  <a:schemeClr val="tx1"/>
                </a:solidFill>
              </a:rPr>
              <a:t>Audit, Monitoring &amp; Policy Automation</a:t>
            </a:r>
            <a:endParaRPr lang="en-US" sz="2200" dirty="0"/>
          </a:p>
        </p:txBody>
      </p:sp>
      <p:sp>
        <p:nvSpPr>
          <p:cNvPr id="13" name="Text 11"/>
          <p:cNvSpPr txBox="1"/>
          <p:nvPr/>
        </p:nvSpPr>
        <p:spPr>
          <a:xfrm>
            <a:off x="6766560" y="5760720"/>
            <a:ext cx="4754880" cy="3383280"/>
          </a:xfrm>
          <a:prstGeom prst="rect">
            <a:avLst/>
          </a:prstGeom>
          <a:noFill/>
          <a:ln/>
        </p:spPr>
        <p:txBody>
          <a:bodyPr wrap="square" lIns="0" tIns="0" rIns="0" bIns="0" rtlCol="0" anchor="t"/>
          <a:lstStyle/>
          <a:p>
            <a:pPr indent="0" marL="0">
              <a:lnSpc>
                <a:spcPct val="120000"/>
              </a:lnSpc>
              <a:buNone/>
            </a:pPr>
            <a:r>
              <a:rPr lang="en-US" sz="1900" dirty="0">
                <a:solidFill>
                  <a:schemeClr val="tx1"/>
                </a:solidFill>
              </a:rPr>
              <a:t>Integrate Audit &amp; Monitoring layer for real-time event logging. Automate policy rule generation via ML anomaly detection. Enable cross-boundary activity alerts and incident dashboards. Harden model state isolation and evaluation data vaults.</a:t>
            </a:r>
            <a:endParaRPr lang="en-US" sz="1900" dirty="0"/>
          </a:p>
        </p:txBody>
      </p:sp>
      <p:sp>
        <p:nvSpPr>
          <p:cNvPr id="14" name="Badge"/>
          <p:cNvSpPr txBox="1"/>
          <p:nvPr/>
        </p:nvSpPr>
        <p:spPr>
          <a:xfrm>
            <a:off x="12161520" y="27889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Card PHASE 3"/>
          <p:cNvSpPr/>
          <p:nvPr/>
        </p:nvSpPr>
        <p:spPr>
          <a:xfrm>
            <a:off x="12161520" y="3840480"/>
            <a:ext cx="5394960" cy="5440680"/>
          </a:xfrm>
          <a:prstGeom prst="roundRect">
            <a:avLst>
              <a:gd name="adj" fmla="val 2542"/>
            </a:avLst>
          </a:prstGeom>
          <a:solidFill>
            <a:schemeClr val="bg2"/>
          </a:solidFill>
          <a:ln w="12700">
            <a:solidFill>
              <a:schemeClr val="accent1"/>
            </a:solidFill>
            <a:prstDash val="solid"/>
          </a:ln>
        </p:spPr>
      </p:sp>
      <p:sp>
        <p:nvSpPr>
          <p:cNvPr id="16" name="Text 14"/>
          <p:cNvSpPr txBox="1"/>
          <p:nvPr/>
        </p:nvSpPr>
        <p:spPr>
          <a:xfrm>
            <a:off x="12481560" y="4114800"/>
            <a:ext cx="4754880" cy="457200"/>
          </a:xfrm>
          <a:prstGeom prst="rect">
            <a:avLst/>
          </a:prstGeom>
          <a:noFill/>
          <a:ln/>
        </p:spPr>
        <p:txBody>
          <a:bodyPr wrap="square" lIns="0" tIns="0" rIns="0" bIns="0" rtlCol="0" anchor="t"/>
          <a:lstStyle/>
          <a:p>
            <a:pPr indent="0" marL="0">
              <a:buNone/>
            </a:pPr>
            <a:r>
              <a:rPr lang="en-US" sz="2000" b="1" dirty="0">
                <a:solidFill>
                  <a:schemeClr val="accent2"/>
                </a:solidFill>
              </a:rPr>
              <a:t>PHASE 3</a:t>
            </a:r>
            <a:endParaRPr lang="en-US" sz="2000" dirty="0"/>
          </a:p>
        </p:txBody>
      </p:sp>
      <p:sp>
        <p:nvSpPr>
          <p:cNvPr id="17" name="Text 15"/>
          <p:cNvSpPr txBox="1"/>
          <p:nvPr/>
        </p:nvSpPr>
        <p:spPr>
          <a:xfrm>
            <a:off x="12481560" y="4617720"/>
            <a:ext cx="4754880" cy="1005840"/>
          </a:xfrm>
          <a:prstGeom prst="rect">
            <a:avLst/>
          </a:prstGeom>
          <a:noFill/>
          <a:ln/>
        </p:spPr>
        <p:txBody>
          <a:bodyPr wrap="square" lIns="0" tIns="0" rIns="0" bIns="0" rtlCol="0" anchor="t"/>
          <a:lstStyle/>
          <a:p>
            <a:pPr indent="0" marL="0">
              <a:buNone/>
            </a:pPr>
            <a:r>
              <a:rPr lang="en-US" sz="2200" b="1" dirty="0">
                <a:solidFill>
                  <a:schemeClr val="tx1"/>
                </a:solidFill>
              </a:rPr>
              <a:t>Multi-Model Scale, Integrations &amp; Enterprise Governance</a:t>
            </a:r>
            <a:endParaRPr lang="en-US" sz="2200" dirty="0"/>
          </a:p>
        </p:txBody>
      </p:sp>
      <p:sp>
        <p:nvSpPr>
          <p:cNvPr id="18" name="Text 16"/>
          <p:cNvSpPr txBox="1"/>
          <p:nvPr/>
        </p:nvSpPr>
        <p:spPr>
          <a:xfrm>
            <a:off x="12481560" y="5760720"/>
            <a:ext cx="4754880" cy="3383280"/>
          </a:xfrm>
          <a:prstGeom prst="rect">
            <a:avLst/>
          </a:prstGeom>
          <a:noFill/>
          <a:ln/>
        </p:spPr>
        <p:txBody>
          <a:bodyPr wrap="square" lIns="0" tIns="0" rIns="0" bIns="0" rtlCol="0" anchor="t"/>
          <a:lstStyle/>
          <a:p>
            <a:pPr indent="0" marL="0">
              <a:lnSpc>
                <a:spcPct val="120000"/>
              </a:lnSpc>
              <a:buNone/>
            </a:pPr>
            <a:r>
              <a:rPr lang="en-US" sz="1900" dirty="0">
                <a:solidFill>
                  <a:schemeClr val="tx1"/>
                </a:solidFill>
              </a:rPr>
              <a:t>Scale to multi-model concurrent testing environments. Integrate with enterprise SIEM, SOAR, and CI/CD pipelines. Deploy governance controls, RBAC, and compliance reporting. Full production-grade deployment with SLA guarantees.</a:t>
            </a:r>
            <a:endParaRPr lang="en-US" sz="1900" dirty="0"/>
          </a:p>
        </p:txBody>
      </p:sp>
      <p:sp>
        <p:nvSpPr>
          <p:cNvPr id="25" name="Slide Number Placeholder 0"/>
          <p:cNvSpPr>
            <a:spLocks noGrp="1"/>
          </p:cNvSpPr>
          <p:nvPr>
            <p:ph type="sldNum" sz="quarter" idx="4294967295"/>
          </p:nvPr>
        </p:nvSpPr>
        <p:spPr>
          <a:xfrm>
            <a:off x="16642080" y="9646920"/>
            <a:ext cx="914400" cy="365760"/>
          </a:xfrm>
          <a:prstGeom prst="rect">
            <a:avLst/>
          </a:prstGeom>
          <a:extLst>
            <a:ext uri="{C572A759-6A51-4108-AA02-DFA0A04FC94B}">
              <ma14:wrappingTextBoxFlag xmlns:ma14="http://schemas.microsoft.com/office/mac/drawingml/2011/main" val="0"/>
            </a:ext>
          </a:extLst>
        </p:spPr>
        <p:txBody>
          <a:bodyPr anchor="ctr"/>
          <a:lstStyle>
            <a:lvl1pPr>
              <a:defRPr sz="14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hank you"/>
          <p:cNvSpPr txBox="1"/>
          <p:nvPr/>
        </p:nvSpPr>
        <p:spPr>
          <a:xfrm>
            <a:off x="731520" y="4480560"/>
            <a:ext cx="16824960" cy="1554480"/>
          </a:xfrm>
          <a:prstGeom prst="rect">
            <a:avLst/>
          </a:prstGeom>
          <a:noFill/>
          <a:ln/>
        </p:spPr>
        <p:txBody>
          <a:bodyPr wrap="square" lIns="0" tIns="0" rIns="0" bIns="0" rtlCol="0" anchor="ctr"/>
          <a:lstStyle/>
          <a:p>
            <a:pPr algn="ctr" indent="0" marL="0">
              <a:buNone/>
            </a:pPr>
            <a:r>
              <a:rPr lang="en-US" sz="8800" b="1" dirty="0">
                <a:solidFill>
                  <a:schemeClr val="tx1"/>
                </a:solidFill>
                <a:latin typeface="+mj-lt" pitchFamily="34" charset="0"/>
                <a:ea typeface="+mj-lt" pitchFamily="34" charset="-122"/>
                <a:cs typeface="+mj-lt" pitchFamily="34" charset="-120"/>
              </a:rPr>
              <a:t>THANK YOU!</a:t>
            </a:r>
            <a:endParaRPr lang="en-US" sz="8800" dirty="0"/>
          </a:p>
        </p:txBody>
      </p:sp>
      <p:sp>
        <p:nvSpPr>
          <p:cNvPr id="3" name="Tagline"/>
          <p:cNvSpPr txBox="1"/>
          <p:nvPr/>
        </p:nvSpPr>
        <p:spPr>
          <a:xfrm>
            <a:off x="731520" y="6035040"/>
            <a:ext cx="16824960" cy="731520"/>
          </a:xfrm>
          <a:prstGeom prst="rect">
            <a:avLst/>
          </a:prstGeom>
          <a:noFill/>
          <a:ln/>
        </p:spPr>
        <p:txBody>
          <a:bodyPr wrap="square" lIns="0" tIns="0" rIns="0" bIns="0" rtlCol="0" anchor="ctr"/>
          <a:lstStyle/>
          <a:p>
            <a:pPr algn="ctr" indent="0" marL="0">
              <a:buNone/>
            </a:pPr>
            <a:r>
              <a:rPr lang="en-US" sz="3600" b="1" dirty="0">
                <a:solidFill>
                  <a:schemeClr val="accent1"/>
                </a:solidFill>
              </a:rPr>
              <a:t>Build Trust.</a:t>
            </a:r>
            <a:endParaRPr lang="en-US" sz="3600" dirty="0"/>
          </a:p>
        </p:txBody>
      </p:sp>
      <p:sp>
        <p:nvSpPr>
          <p:cNvPr id="4" name="Contact card 1"/>
          <p:cNvSpPr/>
          <p:nvPr/>
        </p:nvSpPr>
        <p:spPr>
          <a:xfrm>
            <a:off x="731520" y="7223760"/>
            <a:ext cx="5394960" cy="2011680"/>
          </a:xfrm>
          <a:prstGeom prst="roundRect">
            <a:avLst>
              <a:gd name="adj" fmla="val 6818"/>
            </a:avLst>
          </a:prstGeom>
          <a:solidFill>
            <a:schemeClr val="bg2"/>
          </a:solidFill>
          <a:ln w="12700">
            <a:solidFill>
              <a:schemeClr val="accent1"/>
            </a:solidFill>
            <a:prstDash val="solid"/>
          </a:ln>
        </p:spPr>
      </p:sp>
      <p:sp>
        <p:nvSpPr>
          <p:cNvPr id="5" name="Text 3"/>
          <p:cNvSpPr txBox="1"/>
          <p:nvPr/>
        </p:nvSpPr>
        <p:spPr>
          <a:xfrm>
            <a:off x="1005840" y="7589520"/>
            <a:ext cx="4846320" cy="640080"/>
          </a:xfrm>
          <a:prstGeom prst="rect">
            <a:avLst/>
          </a:prstGeom>
          <a:noFill/>
          <a:ln/>
        </p:spPr>
        <p:txBody>
          <a:bodyPr wrap="square" lIns="0" tIns="0" rIns="0" bIns="0" rtlCol="0" anchor="ctr"/>
          <a:lstStyle/>
          <a:p>
            <a:pPr algn="ctr" indent="0" marL="0">
              <a:buNone/>
            </a:pPr>
            <a:r>
              <a:rPr lang="en-US" sz="2100" b="1" dirty="0">
                <a:solidFill>
                  <a:schemeClr val="tx1"/>
                </a:solidFill>
              </a:rPr>
              <a:t>Request a Live Demo</a:t>
            </a:r>
            <a:endParaRPr lang="en-US" sz="2100" dirty="0"/>
          </a:p>
        </p:txBody>
      </p:sp>
      <p:sp>
        <p:nvSpPr>
          <p:cNvPr id="6" name="Text 4"/>
          <p:cNvSpPr txBox="1"/>
          <p:nvPr/>
        </p:nvSpPr>
        <p:spPr>
          <a:xfrm>
            <a:off x="1005840" y="8275320"/>
            <a:ext cx="4846320" cy="548640"/>
          </a:xfrm>
          <a:prstGeom prst="rect">
            <a:avLst/>
          </a:prstGeom>
          <a:noFill/>
          <a:ln/>
        </p:spPr>
        <p:txBody>
          <a:bodyPr wrap="square" lIns="0" tIns="0" rIns="0" bIns="0" rtlCol="0" anchor="ctr"/>
          <a:lstStyle/>
          <a:p>
            <a:pPr algn="ctr" indent="0" marL="0">
              <a:buNone/>
            </a:pPr>
            <a:r>
              <a:rPr lang="en-US" sz="2000" dirty="0">
                <a:solidFill>
                  <a:schemeClr val="accent1"/>
                </a:solidFill>
              </a:rPr>
              <a:t>sentinelmesh.ai</a:t>
            </a:r>
            <a:endParaRPr lang="en-US" sz="2000" dirty="0"/>
          </a:p>
        </p:txBody>
      </p:sp>
      <p:sp>
        <p:nvSpPr>
          <p:cNvPr id="7" name="Contact card 2"/>
          <p:cNvSpPr/>
          <p:nvPr/>
        </p:nvSpPr>
        <p:spPr>
          <a:xfrm>
            <a:off x="6446520" y="7223760"/>
            <a:ext cx="5394960" cy="2011680"/>
          </a:xfrm>
          <a:prstGeom prst="roundRect">
            <a:avLst>
              <a:gd name="adj" fmla="val 6818"/>
            </a:avLst>
          </a:prstGeom>
          <a:solidFill>
            <a:schemeClr val="bg2"/>
          </a:solidFill>
          <a:ln w="12700">
            <a:solidFill>
              <a:schemeClr val="accent1"/>
            </a:solidFill>
            <a:prstDash val="solid"/>
          </a:ln>
        </p:spPr>
      </p:sp>
      <p:sp>
        <p:nvSpPr>
          <p:cNvPr id="8" name="Text 6"/>
          <p:cNvSpPr txBox="1"/>
          <p:nvPr/>
        </p:nvSpPr>
        <p:spPr>
          <a:xfrm>
            <a:off x="6720840" y="7589520"/>
            <a:ext cx="4846320" cy="640080"/>
          </a:xfrm>
          <a:prstGeom prst="rect">
            <a:avLst/>
          </a:prstGeom>
          <a:noFill/>
          <a:ln/>
        </p:spPr>
        <p:txBody>
          <a:bodyPr wrap="square" lIns="0" tIns="0" rIns="0" bIns="0" rtlCol="0" anchor="ctr"/>
          <a:lstStyle/>
          <a:p>
            <a:pPr algn="ctr" indent="0" marL="0">
              <a:buNone/>
            </a:pPr>
            <a:r>
              <a:rPr lang="en-US" sz="2100" b="1" dirty="0">
                <a:solidFill>
                  <a:schemeClr val="tx1"/>
                </a:solidFill>
              </a:rPr>
              <a:t>Partner on PS-04</a:t>
            </a:r>
            <a:endParaRPr lang="en-US" sz="2100" dirty="0"/>
          </a:p>
        </p:txBody>
      </p:sp>
      <p:sp>
        <p:nvSpPr>
          <p:cNvPr id="9" name="Text 7"/>
          <p:cNvSpPr txBox="1"/>
          <p:nvPr/>
        </p:nvSpPr>
        <p:spPr>
          <a:xfrm>
            <a:off x="6720840" y="8275320"/>
            <a:ext cx="4846320" cy="548640"/>
          </a:xfrm>
          <a:prstGeom prst="rect">
            <a:avLst/>
          </a:prstGeom>
          <a:noFill/>
          <a:ln/>
        </p:spPr>
        <p:txBody>
          <a:bodyPr wrap="square" lIns="0" tIns="0" rIns="0" bIns="0" rtlCol="0" anchor="ctr"/>
          <a:lstStyle/>
          <a:p>
            <a:pPr algn="ctr" indent="0" marL="0">
              <a:buNone/>
            </a:pPr>
            <a:r>
              <a:rPr lang="en-US" sz="2000" dirty="0">
                <a:solidFill>
                  <a:schemeClr val="accent1"/>
                </a:solidFill>
              </a:rPr>
              <a:t>Bayora</a:t>
            </a:r>
            <a:endParaRPr lang="en-US" sz="2000" dirty="0"/>
          </a:p>
        </p:txBody>
      </p:sp>
      <p:sp>
        <p:nvSpPr>
          <p:cNvPr id="10" name="Contact card 3"/>
          <p:cNvSpPr/>
          <p:nvPr/>
        </p:nvSpPr>
        <p:spPr>
          <a:xfrm>
            <a:off x="12161520" y="7223760"/>
            <a:ext cx="5394960" cy="2011680"/>
          </a:xfrm>
          <a:prstGeom prst="roundRect">
            <a:avLst>
              <a:gd name="adj" fmla="val 6818"/>
            </a:avLst>
          </a:prstGeom>
          <a:solidFill>
            <a:schemeClr val="bg2"/>
          </a:solidFill>
          <a:ln w="12700">
            <a:solidFill>
              <a:schemeClr val="accent1"/>
            </a:solidFill>
            <a:prstDash val="solid"/>
          </a:ln>
        </p:spPr>
      </p:sp>
      <p:sp>
        <p:nvSpPr>
          <p:cNvPr id="11" name="Text 9"/>
          <p:cNvSpPr txBox="1"/>
          <p:nvPr/>
        </p:nvSpPr>
        <p:spPr>
          <a:xfrm>
            <a:off x="12435840" y="7589520"/>
            <a:ext cx="4846320" cy="640080"/>
          </a:xfrm>
          <a:prstGeom prst="rect">
            <a:avLst/>
          </a:prstGeom>
          <a:noFill/>
          <a:ln/>
        </p:spPr>
        <p:txBody>
          <a:bodyPr wrap="square" lIns="0" tIns="0" rIns="0" bIns="0" rtlCol="0" anchor="ctr"/>
          <a:lstStyle/>
          <a:p>
            <a:pPr algn="ctr" indent="0" marL="0">
              <a:buNone/>
            </a:pPr>
            <a:r>
              <a:rPr lang="en-US" sz="2100" b="1" dirty="0">
                <a:solidFill>
                  <a:schemeClr val="tx1"/>
                </a:solidFill>
              </a:rPr>
              <a:t>Team git_happens</a:t>
            </a:r>
            <a:endParaRPr lang="en-US" sz="2100" dirty="0"/>
          </a:p>
        </p:txBody>
      </p:sp>
      <p:sp>
        <p:nvSpPr>
          <p:cNvPr id="12" name="Text 10"/>
          <p:cNvSpPr txBox="1"/>
          <p:nvPr/>
        </p:nvSpPr>
        <p:spPr>
          <a:xfrm>
            <a:off x="12435840" y="8275320"/>
            <a:ext cx="4846320" cy="548640"/>
          </a:xfrm>
          <a:prstGeom prst="rect">
            <a:avLst/>
          </a:prstGeom>
          <a:noFill/>
          <a:ln/>
        </p:spPr>
        <p:txBody>
          <a:bodyPr wrap="square" lIns="0" tIns="0" rIns="0" bIns="0" rtlCol="0" anchor="ctr"/>
          <a:lstStyle/>
          <a:p>
            <a:pPr algn="ctr" indent="0" marL="0">
              <a:buNone/>
            </a:pPr>
            <a:r>
              <a:rPr lang="en-US" sz="2000" dirty="0">
                <a:solidFill>
                  <a:schemeClr val="accent1"/>
                </a:solidFill>
              </a:rPr>
              <a:t>Aishwarya Singh</a:t>
            </a:r>
            <a:endParaRPr lang="en-US" sz="2000" dirty="0"/>
          </a:p>
        </p:txBody>
      </p:sp>
    </p:spTree>
  </p:cSld>
  <p:clrMapOvr>
    <a:masterClrMapping/>
  </p:clrMapOvr>
</p:sld>
</file>

<file path=ppt/theme/theme1.xml><?xml version="1.0" encoding="utf-8"?>
<a:theme xmlns:a="http://schemas.openxmlformats.org/drawingml/2006/main" name="Hack in Hills - SentinelMesh">
  <a:themeElements>
    <a:clrScheme name="Hack in Hills - SentinelMesh">
      <a:dk1>
        <a:srgbClr val="1D1D1F"/>
      </a:dk1>
      <a:lt1>
        <a:srgbClr val="FFFFFF"/>
      </a:lt1>
      <a:dk2>
        <a:srgbClr val="1A0DAB"/>
      </a:dk2>
      <a:lt2>
        <a:srgbClr val="F1F2FA"/>
      </a:lt2>
      <a:accent1>
        <a:srgbClr val="1A0DAB"/>
      </a:accent1>
      <a:accent2>
        <a:srgbClr val="4468E8"/>
      </a:accent2>
      <a:accent3>
        <a:srgbClr val="E8943A"/>
      </a:accent3>
      <a:accent4>
        <a:srgbClr val="6B6B73"/>
      </a:accent4>
      <a:accent5>
        <a:srgbClr val="9AA0C7"/>
      </a:accent5>
      <a:accent6>
        <a:srgbClr val="0B0B3B"/>
      </a:accent6>
      <a:hlink>
        <a:srgbClr val="1A0DAB"/>
      </a:hlink>
      <a:folHlink>
        <a:srgbClr val="6B6B73"/>
      </a:folHlink>
    </a:clrScheme>
    <a:fontScheme name="Hack in Hills - SentinelMesh">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git_happens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SentinelMesh AI - Hack in Hills '26 (PS-04)</dc:title>
  <dc:subject>PptxGenJS Presentation</dc:subject>
  <dc:creator>Aishwarya Singh</dc:creator>
  <cp:lastModifiedBy>Aishwarya Singh</cp:lastModifiedBy>
  <cp:revision>1</cp:revision>
  <dcterms:created xsi:type="dcterms:W3CDTF">2026-10-12T19:15:54Z</dcterms:created>
  <dcterms:modified xsi:type="dcterms:W3CDTF">2026-10-12T19:15:54Z</dcterms:modified>
</cp:coreProperties>
</file>